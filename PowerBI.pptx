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61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82959" autoAdjust="0"/>
  </p:normalViewPr>
  <p:slideViewPr>
    <p:cSldViewPr snapToGrid="0">
      <p:cViewPr varScale="1">
        <p:scale>
          <a:sx n="134" d="100"/>
          <a:sy n="134" d="100"/>
        </p:scale>
        <p:origin x="118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DAE826-1323-4589-A558-4871D7062814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1FDF57-A14F-48D9-9E69-604C729D1E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3244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 Share as at 19</a:t>
            </a:r>
            <a:r>
              <a:rPr lang="en-US" baseline="30000" dirty="0"/>
              <a:t>th</a:t>
            </a:r>
            <a:r>
              <a:rPr lang="en-US" dirty="0"/>
              <a:t> February 2026</a:t>
            </a:r>
            <a:br>
              <a:rPr lang="en-US" dirty="0"/>
            </a:br>
            <a:r>
              <a:rPr lang="en-US" dirty="0"/>
              <a:t>Power BI – 23.07%</a:t>
            </a:r>
          </a:p>
          <a:p>
            <a:r>
              <a:rPr lang="en-US" dirty="0"/>
              <a:t>Tableau – 17.82%</a:t>
            </a:r>
          </a:p>
          <a:p>
            <a:r>
              <a:rPr lang="en-US" dirty="0"/>
              <a:t>Notion – 7.18%</a:t>
            </a:r>
          </a:p>
          <a:p>
            <a:r>
              <a:rPr lang="en-US" dirty="0"/>
              <a:t>NetSuite – 5.72%</a:t>
            </a:r>
          </a:p>
          <a:p>
            <a:r>
              <a:rPr lang="en-US" dirty="0"/>
              <a:t>SAP Crystal Solutions – 5.51%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FDF57-A14F-48D9-9E69-604C729D1E50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2323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44C40-8F64-46F7-BD4D-60216E9AC0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05E4BB-7ACA-4872-B3DB-2ABE1ECC70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BACF4D-1A2B-4257-801A-51FC789B9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96B3-EEEB-4EDB-AA9A-CB0DAF98AAE8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CDD975-F8AF-4B5F-ABC8-1BBD7EB70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CB92CC-1B4F-46E3-AC5A-238716638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D529C-CAEE-4223-9095-BC04CA0FC4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53809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E396B-F6AD-47A3-8C63-9429D3093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B506A6-02A1-420D-9715-DA6C65B5FA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BB8C25-C327-4312-B89D-7312E906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96B3-EEEB-4EDB-AA9A-CB0DAF98AAE8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B9137E-592E-4482-877D-5BEF5F4F9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D14549-1258-4E61-8A06-0F7C40D21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D529C-CAEE-4223-9095-BC04CA0FC4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85015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F83E59-A9F7-4F45-91FA-AEBE9748B4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B6377C-A2F2-4A17-B53D-DE9A76E9B8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3472A2-61D9-4505-9E0D-C4659C64E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96B3-EEEB-4EDB-AA9A-CB0DAF98AAE8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CEC98D-CCF1-49FC-B1C4-F6F6FBA3E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811B5E-CD56-47E7-9029-9E7F2DEAF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D529C-CAEE-4223-9095-BC04CA0FC4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87677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396BF-0D0C-45A2-8010-A2E0362D6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7C8A33-D974-47C2-8AF2-424D4D547A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828DE9-622C-4B6E-B455-A663325BEF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6F6707-0095-455D-96DD-3358EBDD6B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96B3-EEEB-4EDB-AA9A-CB0DAF98AAE8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9BE3AA-F650-43E9-A3D4-D170B5170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6BAB50-0B65-469B-8B8E-99A1A1933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D529C-CAEE-4223-9095-BC04CA0FC4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5858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78F09-BAF9-4CB2-80FE-7F8646CDA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0B50F-06AB-4BED-80CB-111761A335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4C8EA-E155-4995-875F-5A706F1C27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E27398-3F36-4F9A-A786-9EC5885DB7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173C86-D02C-4E8E-A788-80BE4B6DFF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8C76921-7A99-45F2-A2ED-6D47B9D7F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96B3-EEEB-4EDB-AA9A-CB0DAF98AAE8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0E40B29-D9BF-423B-B8E8-AB19BB807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A78B795-4D2C-425E-A51A-FE533C53A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D529C-CAEE-4223-9095-BC04CA0FC4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2155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3946D-63C9-4DD7-863E-ADA767A1A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1B3AC3-762B-4E84-B307-CFC76FE8A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96B3-EEEB-4EDB-AA9A-CB0DAF98AAE8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88BFA3-9546-4332-925F-2EEC44862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DB1CB7-4A76-47F3-A20E-83A96A061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D529C-CAEE-4223-9095-BC04CA0FC4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900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6DD9ACD-E745-4B77-BFA9-37F7C99389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96B3-EEEB-4EDB-AA9A-CB0DAF98AAE8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3FE792-FCF0-4766-B650-17BFC9C31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01B780-4067-4456-906A-A1BF161B5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D529C-CAEE-4223-9095-BC04CA0FC4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26643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2967A-59A2-442E-8797-0FE7A99FC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5DB45C-A1F9-460E-A6FF-55F5163208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A7DFF3-2829-477E-B594-971C8E154D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5B15A6-69B6-419E-9038-763EB4E83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96B3-EEEB-4EDB-AA9A-CB0DAF98AAE8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30535F-AE62-46D1-8D15-C370FA640F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0977C8-86A8-4D9E-9D59-CE02D17C0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D529C-CAEE-4223-9095-BC04CA0FC4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45254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1137C-D52C-4A7A-A522-80807A1E1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1030FB-63FF-44A6-8A57-823A6B661C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987A78-7AA5-4F5C-8F8D-3F4700FF18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C8F00F-7F18-4E56-87C8-2ED24B3CF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96B3-EEEB-4EDB-AA9A-CB0DAF98AAE8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67B28C-B3E8-4A0A-AFE6-D8A783F3B8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42135F-4A38-4ACA-A069-055B9FD74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D529C-CAEE-4223-9095-BC04CA0FC4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99951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2187-6804-42DB-A476-0940268A8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C8AB3C-3DA5-4CB1-B39E-D47E439B76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806873-B1FE-4D67-9699-269133AC6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96B3-EEEB-4EDB-AA9A-CB0DAF98AAE8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F2DA6C-9600-4F9C-BACC-0D31E540F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62BFF-280E-475C-9C47-E442D5BF2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D529C-CAEE-4223-9095-BC04CA0FC4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99944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99C98B-0346-477A-9ABE-4A937819A9F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CD2397-AEF5-43B9-9257-76AF99F584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9F461-AAD7-4015-B268-139BDA58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96B3-EEEB-4EDB-AA9A-CB0DAF98AAE8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D12CC8-2D2E-4686-BACD-F56E6CF79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3F6B62-1335-4D46-A1A9-54E080C27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D529C-CAEE-4223-9095-BC04CA0FC4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89651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DBBFB7-21F8-48CC-98AA-B5D7CDB4F8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4D4612-5BEE-4AD5-82CC-C4C93856BB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DC6796-5891-4614-AF25-16C365E5B2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7496B3-EEEB-4EDB-AA9A-CB0DAF98AAE8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C02C58-E2A9-4389-A8AC-076387CEB0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28251-A778-4B6B-A88B-B3698B38C5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4D529C-CAEE-4223-9095-BC04CA0FC4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80590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64D5E340-8BFA-4960-AEAC-EF305B55FE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5859"/>
            <a:ext cx="2678594" cy="14881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B6EF429-1BAA-4C5E-BCD6-D5B89D8739B1}"/>
              </a:ext>
            </a:extLst>
          </p:cNvPr>
          <p:cNvSpPr txBox="1"/>
          <p:nvPr/>
        </p:nvSpPr>
        <p:spPr>
          <a:xfrm>
            <a:off x="318018" y="1715984"/>
            <a:ext cx="6249037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Introduction</a:t>
            </a:r>
          </a:p>
          <a:p>
            <a:endParaRPr lang="en-US" dirty="0"/>
          </a:p>
          <a:p>
            <a:r>
              <a:rPr lang="en-US" sz="16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Power BI is Microsoft's business analytics platform that helps you turn data into actionable insights. Whether you're a business user, report creator, or developer, Power BI offers integrated tools and services to connect, visualize, and share data across your </a:t>
            </a:r>
            <a:r>
              <a:rPr lang="en-US" sz="1600" b="0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organisation</a:t>
            </a:r>
            <a:r>
              <a:rPr lang="en-US" sz="16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.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C2239B-66DD-4EF1-B9C1-461C1552E8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0187" y="3211081"/>
            <a:ext cx="5090623" cy="338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22985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2C9CA-CCA5-4918-A0DD-4662618DF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 Overview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9C486-77B5-4C59-892C-67B5562D390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770063"/>
            <a:ext cx="5181600" cy="20462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3100" dirty="0"/>
              <a:t> 1</a:t>
            </a:r>
            <a:r>
              <a:rPr lang="en-US" dirty="0"/>
              <a:t>. What is Power BI?</a:t>
            </a:r>
          </a:p>
          <a:p>
            <a:r>
              <a:rPr lang="en-US" sz="1900" dirty="0"/>
              <a:t>Cloud‑based analytics and BI platform</a:t>
            </a:r>
          </a:p>
          <a:p>
            <a:r>
              <a:rPr lang="en-US" sz="1900" dirty="0"/>
              <a:t>Turns raw data into interactive dashboards and reports</a:t>
            </a:r>
          </a:p>
          <a:p>
            <a:r>
              <a:rPr lang="en-US" sz="1900" dirty="0"/>
              <a:t>Supports both self‑service and enterprise analytics</a:t>
            </a:r>
            <a:endParaRPr lang="en-GB" sz="19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51782B-A1D5-441B-AD61-E06368E7B4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00813" y="1723232"/>
            <a:ext cx="5181600" cy="1981995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2. Key Capabilities </a:t>
            </a:r>
          </a:p>
          <a:p>
            <a:r>
              <a:rPr lang="en-US" sz="1900" dirty="0"/>
              <a:t>Connect to 100+ data sources</a:t>
            </a:r>
          </a:p>
          <a:p>
            <a:r>
              <a:rPr lang="en-US" sz="1900" dirty="0"/>
              <a:t>Clean and transform data with Power Query</a:t>
            </a:r>
          </a:p>
          <a:p>
            <a:r>
              <a:rPr lang="en-US" sz="1900" dirty="0"/>
              <a:t>Build semantic models using DAX</a:t>
            </a:r>
          </a:p>
          <a:p>
            <a:r>
              <a:rPr lang="en-US" sz="1900" dirty="0"/>
              <a:t>Rich </a:t>
            </a:r>
            <a:r>
              <a:rPr lang="en-US" sz="1900" dirty="0" err="1"/>
              <a:t>visualisations</a:t>
            </a:r>
            <a:r>
              <a:rPr lang="en-US" sz="1900" dirty="0"/>
              <a:t> and interactive reporting</a:t>
            </a:r>
          </a:p>
          <a:p>
            <a:r>
              <a:rPr lang="en-US" sz="1900" dirty="0"/>
              <a:t>AI‑powered insights and natural language Q&amp;A</a:t>
            </a:r>
            <a:endParaRPr lang="en-GB" sz="19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27CFCF0-ECA2-4C10-81ED-6A4F28AE3986}"/>
              </a:ext>
            </a:extLst>
          </p:cNvPr>
          <p:cNvSpPr txBox="1">
            <a:spLocks/>
          </p:cNvSpPr>
          <p:nvPr/>
        </p:nvSpPr>
        <p:spPr>
          <a:xfrm>
            <a:off x="6500813" y="4044950"/>
            <a:ext cx="5181600" cy="204628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4. Why </a:t>
            </a:r>
            <a:r>
              <a:rPr lang="en-US" dirty="0" err="1"/>
              <a:t>Organisations</a:t>
            </a:r>
            <a:r>
              <a:rPr lang="en-US" dirty="0"/>
              <a:t> Choose Power BI </a:t>
            </a:r>
          </a:p>
          <a:p>
            <a:r>
              <a:rPr lang="en-US" sz="1900" dirty="0"/>
              <a:t> Cost‑effective licensing</a:t>
            </a:r>
          </a:p>
          <a:p>
            <a:r>
              <a:rPr lang="en-US" sz="1900" dirty="0"/>
              <a:t> Easy for beginners, powerful for analysts</a:t>
            </a:r>
          </a:p>
          <a:p>
            <a:r>
              <a:rPr lang="en-US" sz="1900" dirty="0"/>
              <a:t> Deep integration with Microsoft 365 &amp; Azure</a:t>
            </a:r>
          </a:p>
          <a:p>
            <a:r>
              <a:rPr lang="en-US" sz="1900" dirty="0"/>
              <a:t> Scales from small teams to global enterprises</a:t>
            </a:r>
          </a:p>
          <a:p>
            <a:r>
              <a:rPr lang="en-US" sz="1900" dirty="0"/>
              <a:t> Continuous monthly updates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23B5066-B7A6-4427-A0A6-8634EA859407}"/>
              </a:ext>
            </a:extLst>
          </p:cNvPr>
          <p:cNvSpPr txBox="1">
            <a:spLocks/>
          </p:cNvSpPr>
          <p:nvPr/>
        </p:nvSpPr>
        <p:spPr>
          <a:xfrm>
            <a:off x="838200" y="4044950"/>
            <a:ext cx="5181600" cy="204628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3. </a:t>
            </a:r>
            <a:r>
              <a:rPr lang="en-US" sz="2600" dirty="0"/>
              <a:t>Core Components </a:t>
            </a:r>
          </a:p>
          <a:p>
            <a:r>
              <a:rPr lang="en-US" sz="1700" dirty="0"/>
              <a:t> Power BI Desktop – report creation</a:t>
            </a:r>
          </a:p>
          <a:p>
            <a:r>
              <a:rPr lang="en-US" sz="1700" dirty="0"/>
              <a:t> Power BI Service – sharing &amp; governance</a:t>
            </a:r>
          </a:p>
          <a:p>
            <a:r>
              <a:rPr lang="en-US" sz="1700" dirty="0"/>
              <a:t> Power BI Mobile – on‑the‑go access</a:t>
            </a:r>
          </a:p>
          <a:p>
            <a:r>
              <a:rPr lang="en-US" sz="1700" dirty="0"/>
              <a:t> Gateway – on‑premises connectivity</a:t>
            </a:r>
          </a:p>
          <a:p>
            <a:r>
              <a:rPr lang="en-US" sz="1700" dirty="0"/>
              <a:t> Fabric Integration – unified analytics platform</a:t>
            </a:r>
          </a:p>
        </p:txBody>
      </p:sp>
    </p:spTree>
    <p:extLst>
      <p:ext uri="{BB962C8B-B14F-4D97-AF65-F5344CB8AC3E}">
        <p14:creationId xmlns:p14="http://schemas.microsoft.com/office/powerpoint/2010/main" val="764828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D9B4B-EBE3-44E3-993A-98D130D1B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SWOT Analysis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B65858-C0F1-4C4C-B822-4FA35DC3AE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13419" y="1856044"/>
            <a:ext cx="4440381" cy="432506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Weaknesses</a:t>
            </a:r>
          </a:p>
          <a:p>
            <a:r>
              <a:rPr lang="en-GB" sz="1200" dirty="0"/>
              <a:t>Learning curve for DAX and modelling</a:t>
            </a:r>
            <a:br>
              <a:rPr lang="en-GB" sz="1200" dirty="0"/>
            </a:br>
            <a:r>
              <a:rPr lang="en-GB" sz="900" dirty="0"/>
              <a:t>Beginners often struggle with relationships, star schemas, and DAX functions.</a:t>
            </a:r>
          </a:p>
          <a:p>
            <a:r>
              <a:rPr lang="en-GB" sz="1200" dirty="0"/>
              <a:t>Performance issues with very large datasets</a:t>
            </a:r>
            <a:br>
              <a:rPr lang="en-GB" sz="1200" dirty="0"/>
            </a:br>
            <a:r>
              <a:rPr lang="en-GB" sz="900" dirty="0"/>
              <a:t>Import mode can hit memory limits; </a:t>
            </a:r>
            <a:r>
              <a:rPr lang="en-GB" sz="900" dirty="0" err="1"/>
              <a:t>DirectQuery</a:t>
            </a:r>
            <a:r>
              <a:rPr lang="en-GB" sz="900" dirty="0"/>
              <a:t> can be slow depending on the source</a:t>
            </a:r>
          </a:p>
          <a:p>
            <a:r>
              <a:rPr lang="en-GB" sz="1200" dirty="0"/>
              <a:t>Limited advanced customisation vs. Tableau</a:t>
            </a:r>
            <a:br>
              <a:rPr lang="en-GB" sz="900" dirty="0"/>
            </a:br>
            <a:r>
              <a:rPr lang="en-GB" sz="900" dirty="0"/>
              <a:t>Visuals are powerful but sometimes less flexible for highly bespoke dashboards</a:t>
            </a:r>
          </a:p>
          <a:p>
            <a:r>
              <a:rPr lang="en-GB" sz="1200" dirty="0"/>
              <a:t>Complex governance at scale</a:t>
            </a:r>
            <a:br>
              <a:rPr lang="en-GB" sz="1200" dirty="0"/>
            </a:br>
            <a:r>
              <a:rPr lang="en-GB" sz="900" dirty="0"/>
              <a:t>Managing workspaces, permission, and deployment pipelines can get messy without strong governance.</a:t>
            </a:r>
            <a:endParaRPr lang="en-GB" sz="12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C07239C-CCD1-4855-91F4-17A1DBF2C161}"/>
              </a:ext>
            </a:extLst>
          </p:cNvPr>
          <p:cNvSpPr txBox="1">
            <a:spLocks/>
          </p:cNvSpPr>
          <p:nvPr/>
        </p:nvSpPr>
        <p:spPr>
          <a:xfrm>
            <a:off x="941116" y="1856045"/>
            <a:ext cx="4337465" cy="43785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Strengths</a:t>
            </a:r>
          </a:p>
          <a:p>
            <a:r>
              <a:rPr lang="en-US" sz="1200" dirty="0"/>
              <a:t>Deep integration with Microsoft ecosystem</a:t>
            </a:r>
            <a:br>
              <a:rPr lang="en-US" sz="1200" dirty="0"/>
            </a:br>
            <a:r>
              <a:rPr lang="en-US" sz="900" i="1" dirty="0"/>
              <a:t>Works seamlessly with Excel, Azure, SQL Server, Teams, SharePoint, and Office 365</a:t>
            </a:r>
          </a:p>
          <a:p>
            <a:r>
              <a:rPr lang="en-US" sz="1200" dirty="0"/>
              <a:t>Cost Effective</a:t>
            </a:r>
            <a:br>
              <a:rPr lang="en-US" sz="1200" dirty="0"/>
            </a:br>
            <a:r>
              <a:rPr lang="en-US" sz="900" i="1" dirty="0"/>
              <a:t>Power BI is free, and Pro licensing is relative inexpensive compared to Tableau or Qlik.</a:t>
            </a:r>
          </a:p>
          <a:p>
            <a:r>
              <a:rPr lang="en-US" sz="1200" dirty="0"/>
              <a:t>Strong data modelling capabilities</a:t>
            </a:r>
            <a:br>
              <a:rPr lang="en-US" sz="1200" dirty="0"/>
            </a:br>
            <a:r>
              <a:rPr lang="en-US" sz="1000" i="1" dirty="0"/>
              <a:t>Uses DAX and Power Query, enabling robust </a:t>
            </a:r>
            <a:r>
              <a:rPr lang="en-US" sz="900" i="1" dirty="0"/>
              <a:t>transformations</a:t>
            </a:r>
            <a:r>
              <a:rPr lang="en-US" sz="1000" i="1" dirty="0"/>
              <a:t> and analytics.</a:t>
            </a:r>
          </a:p>
          <a:p>
            <a:r>
              <a:rPr lang="en-US" sz="1200" dirty="0"/>
              <a:t>Frequent Updates</a:t>
            </a:r>
            <a:br>
              <a:rPr lang="en-US" sz="1000" i="1" dirty="0"/>
            </a:br>
            <a:r>
              <a:rPr lang="en-US" sz="1000" i="1" dirty="0"/>
              <a:t>Monthly enhancements </a:t>
            </a:r>
            <a:r>
              <a:rPr lang="en-US" sz="900" i="1" dirty="0"/>
              <a:t>keeping</a:t>
            </a:r>
            <a:r>
              <a:rPr lang="en-US" sz="1000" i="1" dirty="0"/>
              <a:t> the platform modern and competitive.</a:t>
            </a:r>
          </a:p>
          <a:p>
            <a:r>
              <a:rPr lang="en-US" sz="1200" dirty="0"/>
              <a:t>Large community &amp; learning resources</a:t>
            </a:r>
            <a:br>
              <a:rPr lang="en-US" sz="1200" dirty="0"/>
            </a:br>
            <a:r>
              <a:rPr lang="en-US" sz="900" dirty="0"/>
              <a:t>Huge user base, tutorials, forums, templates, and community visuals.</a:t>
            </a:r>
          </a:p>
          <a:p>
            <a:r>
              <a:rPr lang="en-US" sz="1200" dirty="0"/>
              <a:t>AI-powered features</a:t>
            </a:r>
            <a:br>
              <a:rPr lang="en-US" sz="1200" dirty="0"/>
            </a:br>
            <a:r>
              <a:rPr lang="en-US" sz="900" dirty="0"/>
              <a:t>Smart narratives, Q&amp;A natural language queries, automated insights.</a:t>
            </a:r>
            <a:endParaRPr lang="en-US" sz="1200" dirty="0"/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5895209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9FB1A-F22D-4C3D-98FC-DA7D26363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SWOT Analysis</a:t>
            </a:r>
            <a:endParaRPr lang="en-GB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9BBB726-11F9-4481-A404-93AA7CDF14F0}"/>
              </a:ext>
            </a:extLst>
          </p:cNvPr>
          <p:cNvSpPr txBox="1">
            <a:spLocks/>
          </p:cNvSpPr>
          <p:nvPr/>
        </p:nvSpPr>
        <p:spPr>
          <a:xfrm>
            <a:off x="941116" y="1856045"/>
            <a:ext cx="4337465" cy="43785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Opportunities</a:t>
            </a:r>
            <a:br>
              <a:rPr lang="en-US" dirty="0"/>
            </a:br>
            <a:endParaRPr lang="en-US" sz="1200" dirty="0"/>
          </a:p>
          <a:p>
            <a:r>
              <a:rPr lang="en-US" sz="1200" dirty="0"/>
              <a:t>Growing demand for self-service BI</a:t>
            </a:r>
            <a:br>
              <a:rPr lang="en-US" sz="1200" dirty="0"/>
            </a:br>
            <a:r>
              <a:rPr lang="en-US" sz="900" dirty="0" err="1"/>
              <a:t>Organisations</a:t>
            </a:r>
            <a:r>
              <a:rPr lang="en-US" sz="900" dirty="0"/>
              <a:t> want non-technical users to build dashboards – Power BI fits perfectly</a:t>
            </a:r>
          </a:p>
          <a:p>
            <a:r>
              <a:rPr lang="en-US" sz="1200" dirty="0"/>
              <a:t>Expansion into AI &amp; Copilot integration</a:t>
            </a:r>
            <a:br>
              <a:rPr lang="en-US" sz="900" dirty="0"/>
            </a:br>
            <a:r>
              <a:rPr lang="en-US" sz="900" dirty="0"/>
              <a:t>Microsoft is embedding more generative AI into Power BI, making insights easier to produce.</a:t>
            </a:r>
          </a:p>
          <a:p>
            <a:r>
              <a:rPr lang="en-US" sz="1200" dirty="0"/>
              <a:t>Enterprise adoption via Fabric</a:t>
            </a:r>
            <a:br>
              <a:rPr lang="en-US" sz="900" dirty="0"/>
            </a:br>
            <a:r>
              <a:rPr lang="en-US" sz="900" dirty="0"/>
              <a:t>Power BI is now part of Microsoft Fabric, opening opportunities for unified data engineering.</a:t>
            </a:r>
          </a:p>
          <a:p>
            <a:r>
              <a:rPr lang="en-US" sz="1200" dirty="0"/>
              <a:t>Increasing cloud migration</a:t>
            </a:r>
            <a:br>
              <a:rPr lang="en-US" sz="900" dirty="0"/>
            </a:br>
            <a:r>
              <a:rPr lang="en-US" sz="900" dirty="0"/>
              <a:t>As companies move to Azure, Power BI becomes the natural analytics layer.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6B6597E-F15C-461A-A2B8-D0F0113CB342}"/>
              </a:ext>
            </a:extLst>
          </p:cNvPr>
          <p:cNvSpPr txBox="1">
            <a:spLocks/>
          </p:cNvSpPr>
          <p:nvPr/>
        </p:nvSpPr>
        <p:spPr>
          <a:xfrm>
            <a:off x="6686794" y="1856045"/>
            <a:ext cx="4337465" cy="43785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Threats</a:t>
            </a:r>
          </a:p>
          <a:p>
            <a:r>
              <a:rPr lang="en-US" sz="1200" dirty="0"/>
              <a:t>Strong competition</a:t>
            </a:r>
            <a:br>
              <a:rPr lang="en-US" sz="1200" dirty="0"/>
            </a:br>
            <a:r>
              <a:rPr lang="en-US" sz="900" dirty="0"/>
              <a:t>Tableau, Qlik, Looker, and even open-source tools challenge Power BI’s market share</a:t>
            </a:r>
          </a:p>
          <a:p>
            <a:r>
              <a:rPr lang="en-US" sz="1200" dirty="0"/>
              <a:t>Dependence on Microsoft ecosystem</a:t>
            </a:r>
            <a:br>
              <a:rPr lang="en-US" sz="900" dirty="0"/>
            </a:br>
            <a:r>
              <a:rPr lang="en-US" sz="900" dirty="0" err="1"/>
              <a:t>Organisations</a:t>
            </a:r>
            <a:r>
              <a:rPr lang="en-US" sz="900" dirty="0"/>
              <a:t> heavily invested in AWS or Google Cloud may prefer native tools.</a:t>
            </a:r>
          </a:p>
          <a:p>
            <a:r>
              <a:rPr lang="en-US" sz="1050" dirty="0"/>
              <a:t>Data privacy &amp; compliance concerns</a:t>
            </a:r>
            <a:br>
              <a:rPr lang="en-US" sz="900" dirty="0"/>
            </a:br>
            <a:r>
              <a:rPr lang="en-US" sz="900" dirty="0"/>
              <a:t>Some industries restrict cloud-based analytics, limiting Power BI’s deployment options.</a:t>
            </a:r>
          </a:p>
          <a:p>
            <a:r>
              <a:rPr lang="en-US" sz="1100" dirty="0"/>
              <a:t>Rapid evolution of AI analytics</a:t>
            </a:r>
            <a:br>
              <a:rPr lang="en-US" sz="900" dirty="0"/>
            </a:br>
            <a:r>
              <a:rPr lang="en-US" sz="900" dirty="0"/>
              <a:t>New AI-driven BI tools could disrupt traditional dashboarding platforms.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8315867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EACD8-4591-4DF0-B646-FA735EE93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Delpoyment</a:t>
            </a:r>
            <a:r>
              <a:rPr lang="en-US" dirty="0"/>
              <a:t> Costs by </a:t>
            </a:r>
            <a:r>
              <a:rPr lang="en-US" dirty="0" err="1"/>
              <a:t>Organisation</a:t>
            </a:r>
            <a:r>
              <a:rPr lang="en-US" dirty="0"/>
              <a:t> Size</a:t>
            </a:r>
            <a:endParaRPr lang="en-GB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75900524-257E-437A-8279-262C8FF9C5E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89465275"/>
              </p:ext>
            </p:extLst>
          </p:nvPr>
        </p:nvGraphicFramePr>
        <p:xfrm>
          <a:off x="838200" y="1825625"/>
          <a:ext cx="105156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402511744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46667154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11841033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481015754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22622573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666978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Size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Users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Licensing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Initial setup (data modelling, dashboards)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Training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Ongoing maintenance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16908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Small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1-50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£650 - £5,000 /year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£5,000 - £25,000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£1,000 - £5,000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£2,000 - £10,000/year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4250455"/>
                  </a:ext>
                </a:extLst>
              </a:tr>
              <a:tr h="401161">
                <a:tc>
                  <a:txBody>
                    <a:bodyPr/>
                    <a:lstStyle/>
                    <a:p>
                      <a:r>
                        <a:rPr lang="en-US" dirty="0"/>
                        <a:t>Medium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50-500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£10,000 - £150,000/year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£30,000 - £250,000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£10,000 to £50,000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£20,000 to £100,000/year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64223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Large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500+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£200,000 - £2M+/year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£250,000 - £300,000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£50,000 - £300,000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£100,000 - £1M+/year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94189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744429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679</Words>
  <Application>Microsoft Office PowerPoint</Application>
  <PresentationFormat>Widescreen</PresentationFormat>
  <Paragraphs>81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Segoe UI</vt:lpstr>
      <vt:lpstr>Office Theme</vt:lpstr>
      <vt:lpstr>PowerPoint Presentation</vt:lpstr>
      <vt:lpstr>Product Overview</vt:lpstr>
      <vt:lpstr>SWOT Analysis</vt:lpstr>
      <vt:lpstr>SWOT Analysis</vt:lpstr>
      <vt:lpstr>Delpoyment Costs by Organisation Size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8</cp:revision>
  <dcterms:created xsi:type="dcterms:W3CDTF">2026-02-19T11:20:50Z</dcterms:created>
  <dcterms:modified xsi:type="dcterms:W3CDTF">2026-02-19T12:15:16Z</dcterms:modified>
</cp:coreProperties>
</file>