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1" r:id="rId3"/>
    <p:sldId id="258" r:id="rId4"/>
    <p:sldId id="259" r:id="rId5"/>
    <p:sldId id="262" r:id="rId6"/>
    <p:sldId id="260"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0B26814-351C-41F2-993D-07DB5DA5D11C}">
          <p14:sldIdLst>
            <p14:sldId id="256"/>
            <p14:sldId id="261"/>
            <p14:sldId id="258"/>
            <p14:sldId id="259"/>
          </p14:sldIdLst>
        </p14:section>
        <p14:section name="Untitled Section" id="{AAF13E2F-2BA5-46C1-80B2-66FDB7947F6A}">
          <p14:sldIdLst>
            <p14:sldId id="262"/>
            <p14:sldId id="260"/>
            <p14:sldId id="26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2959" autoAdjust="0"/>
  </p:normalViewPr>
  <p:slideViewPr>
    <p:cSldViewPr snapToGrid="0">
      <p:cViewPr varScale="1">
        <p:scale>
          <a:sx n="134" d="100"/>
          <a:sy n="134" d="100"/>
        </p:scale>
        <p:origin x="118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Market Share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Pt>
            <c:idx val="4"/>
            <c:bubble3D val="0"/>
            <c:spPr>
              <a:solidFill>
                <a:schemeClr val="accent5"/>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Power BI</c:v>
                </c:pt>
                <c:pt idx="1">
                  <c:v>Tableau</c:v>
                </c:pt>
                <c:pt idx="2">
                  <c:v>Notion</c:v>
                </c:pt>
                <c:pt idx="3">
                  <c:v>SAP Crystal Solutions</c:v>
                </c:pt>
                <c:pt idx="4">
                  <c:v>Net Suite</c:v>
                </c:pt>
              </c:strCache>
            </c:strRef>
          </c:cat>
          <c:val>
            <c:numRef>
              <c:f>Sheet1!$B$2:$B$6</c:f>
              <c:numCache>
                <c:formatCode>General</c:formatCode>
                <c:ptCount val="5"/>
                <c:pt idx="0">
                  <c:v>23.07</c:v>
                </c:pt>
                <c:pt idx="1">
                  <c:v>17.82</c:v>
                </c:pt>
                <c:pt idx="2">
                  <c:v>7.18</c:v>
                </c:pt>
                <c:pt idx="3">
                  <c:v>5.51</c:v>
                </c:pt>
                <c:pt idx="4">
                  <c:v>5.72</c:v>
                </c:pt>
              </c:numCache>
            </c:numRef>
          </c:val>
          <c:extLst>
            <c:ext xmlns:c16="http://schemas.microsoft.com/office/drawing/2014/chart" uri="{C3380CC4-5D6E-409C-BE32-E72D297353CC}">
              <c16:uniqueId val="{00000000-2FD8-4DAB-91C0-0DE1C65C3C36}"/>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DAE826-1323-4589-A558-4871D7062814}" type="datetimeFigureOut">
              <a:rPr lang="en-GB" smtClean="0"/>
              <a:t>19/02/2026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1FDF57-A14F-48D9-9E69-604C729D1E50}" type="slidenum">
              <a:rPr lang="en-GB" smtClean="0"/>
              <a:t>‹#›</a:t>
            </a:fld>
            <a:endParaRPr lang="en-GB"/>
          </a:p>
        </p:txBody>
      </p:sp>
    </p:spTree>
    <p:extLst>
      <p:ext uri="{BB962C8B-B14F-4D97-AF65-F5344CB8AC3E}">
        <p14:creationId xmlns:p14="http://schemas.microsoft.com/office/powerpoint/2010/main" val="1733244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Share as at 19</a:t>
            </a:r>
            <a:r>
              <a:rPr lang="en-US" baseline="30000" dirty="0"/>
              <a:t>th</a:t>
            </a:r>
            <a:r>
              <a:rPr lang="en-US" dirty="0"/>
              <a:t> February 2026</a:t>
            </a:r>
            <a:br>
              <a:rPr lang="en-US" dirty="0"/>
            </a:br>
            <a:r>
              <a:rPr lang="en-US" dirty="0"/>
              <a:t>Power BI – 23.07%</a:t>
            </a:r>
          </a:p>
          <a:p>
            <a:r>
              <a:rPr lang="en-US" dirty="0"/>
              <a:t>Tableau – 17.82%</a:t>
            </a:r>
          </a:p>
          <a:p>
            <a:r>
              <a:rPr lang="en-US" dirty="0"/>
              <a:t>Notion – 7.18%</a:t>
            </a:r>
          </a:p>
          <a:p>
            <a:r>
              <a:rPr lang="en-US" dirty="0"/>
              <a:t>NetSuite – 5.72%</a:t>
            </a:r>
          </a:p>
          <a:p>
            <a:r>
              <a:rPr lang="en-US" dirty="0"/>
              <a:t>SAP Crystal Solutions – 5.51%</a:t>
            </a:r>
            <a:endParaRPr lang="en-GB" dirty="0"/>
          </a:p>
        </p:txBody>
      </p:sp>
      <p:sp>
        <p:nvSpPr>
          <p:cNvPr id="4" name="Slide Number Placeholder 3"/>
          <p:cNvSpPr>
            <a:spLocks noGrp="1"/>
          </p:cNvSpPr>
          <p:nvPr>
            <p:ph type="sldNum" sz="quarter" idx="5"/>
          </p:nvPr>
        </p:nvSpPr>
        <p:spPr/>
        <p:txBody>
          <a:bodyPr/>
          <a:lstStyle/>
          <a:p>
            <a:fld id="{151FDF57-A14F-48D9-9E69-604C729D1E50}" type="slidenum">
              <a:rPr lang="en-GB" smtClean="0"/>
              <a:t>4</a:t>
            </a:fld>
            <a:endParaRPr lang="en-GB"/>
          </a:p>
        </p:txBody>
      </p:sp>
    </p:spTree>
    <p:extLst>
      <p:ext uri="{BB962C8B-B14F-4D97-AF65-F5344CB8AC3E}">
        <p14:creationId xmlns:p14="http://schemas.microsoft.com/office/powerpoint/2010/main" val="241232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Power BI Dominates</a:t>
            </a:r>
          </a:p>
          <a:p>
            <a:r>
              <a:rPr lang="en-US" dirty="0"/>
              <a:t>Based on industry analysis and usage trends:</a:t>
            </a:r>
          </a:p>
          <a:p>
            <a:r>
              <a:rPr lang="en-US" dirty="0"/>
              <a:t>• 	Deep integration with Microsoft 365 and Azure</a:t>
            </a:r>
          </a:p>
          <a:p>
            <a:r>
              <a:rPr lang="en-US" dirty="0"/>
              <a:t>• 	Lower cost of entry compared to Tableau and Qlik</a:t>
            </a:r>
          </a:p>
          <a:p>
            <a:r>
              <a:rPr lang="en-US" dirty="0"/>
              <a:t>• 	Strong enterprise adoption</a:t>
            </a:r>
          </a:p>
          <a:p>
            <a:r>
              <a:rPr lang="en-US" dirty="0"/>
              <a:t>• 	Rapid feature updates</a:t>
            </a:r>
          </a:p>
          <a:p>
            <a:r>
              <a:rPr lang="en-US" dirty="0"/>
              <a:t>• 	Part of Microsoft Fabric, expanding its role in end‑to‑end analytics</a:t>
            </a:r>
          </a:p>
          <a:p>
            <a:endParaRPr lang="en-US" dirty="0"/>
          </a:p>
          <a:p>
            <a:r>
              <a:rPr lang="en-US" dirty="0"/>
              <a:t>What This Means</a:t>
            </a:r>
          </a:p>
          <a:p>
            <a:r>
              <a:rPr lang="en-US" dirty="0"/>
              <a:t>Power BI’s market leadership signals:</a:t>
            </a:r>
          </a:p>
          <a:p>
            <a:r>
              <a:rPr lang="en-US" dirty="0"/>
              <a:t>• 	High demand for self‑service analytics</a:t>
            </a:r>
          </a:p>
          <a:p>
            <a:r>
              <a:rPr lang="en-US" dirty="0"/>
              <a:t>• 	Strong adoption across small businesses and large enterprises</a:t>
            </a:r>
          </a:p>
          <a:p>
            <a:r>
              <a:rPr lang="en-US" dirty="0"/>
              <a:t>• 	A growing ecosystem of training, community support, and integrations</a:t>
            </a:r>
            <a:endParaRPr lang="en-GB" dirty="0"/>
          </a:p>
        </p:txBody>
      </p:sp>
      <p:sp>
        <p:nvSpPr>
          <p:cNvPr id="4" name="Slide Number Placeholder 3"/>
          <p:cNvSpPr>
            <a:spLocks noGrp="1"/>
          </p:cNvSpPr>
          <p:nvPr>
            <p:ph type="sldNum" sz="quarter" idx="5"/>
          </p:nvPr>
        </p:nvSpPr>
        <p:spPr/>
        <p:txBody>
          <a:bodyPr/>
          <a:lstStyle/>
          <a:p>
            <a:fld id="{151FDF57-A14F-48D9-9E69-604C729D1E50}" type="slidenum">
              <a:rPr lang="en-GB" smtClean="0"/>
              <a:t>5</a:t>
            </a:fld>
            <a:endParaRPr lang="en-GB"/>
          </a:p>
        </p:txBody>
      </p:sp>
    </p:spTree>
    <p:extLst>
      <p:ext uri="{BB962C8B-B14F-4D97-AF65-F5344CB8AC3E}">
        <p14:creationId xmlns:p14="http://schemas.microsoft.com/office/powerpoint/2010/main" val="999264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a:t>
            </a:r>
          </a:p>
          <a:p>
            <a:r>
              <a:rPr lang="en-US" dirty="0"/>
              <a:t>Power BI Pro</a:t>
            </a:r>
          </a:p>
          <a:p>
            <a:r>
              <a:rPr lang="en-US" dirty="0"/>
              <a:t>- £10.80 per user/month</a:t>
            </a:r>
          </a:p>
          <a:p>
            <a:r>
              <a:rPr lang="en-US" dirty="0"/>
              <a:t>- Full authoring + sharing capabilities</a:t>
            </a:r>
          </a:p>
          <a:p>
            <a:r>
              <a:rPr lang="en-US" dirty="0"/>
              <a:t>- Most common </a:t>
            </a:r>
            <a:r>
              <a:rPr lang="en-US" dirty="0" err="1"/>
              <a:t>licence</a:t>
            </a:r>
            <a:r>
              <a:rPr lang="en-US" dirty="0"/>
              <a:t> for individual analysts</a:t>
            </a:r>
          </a:p>
          <a:p>
            <a:r>
              <a:rPr lang="en-US" dirty="0"/>
              <a:t>Power BI Premium Per User (PPU)</a:t>
            </a:r>
          </a:p>
          <a:p>
            <a:r>
              <a:rPr lang="en-US" dirty="0"/>
              <a:t>- £18.50 per user/month</a:t>
            </a:r>
          </a:p>
          <a:p>
            <a:r>
              <a:rPr lang="en-US" dirty="0"/>
              <a:t>- Adds advanced AI, larger datasets, and Premium features</a:t>
            </a:r>
          </a:p>
          <a:p>
            <a:r>
              <a:rPr lang="en-US" dirty="0"/>
              <a:t>Lowest entry cost: £10.80/month</a:t>
            </a:r>
          </a:p>
          <a:p>
            <a:endParaRPr lang="en-US" dirty="0"/>
          </a:p>
          <a:p>
            <a:r>
              <a:rPr lang="en-US" dirty="0"/>
              <a:t>Tableau</a:t>
            </a:r>
          </a:p>
          <a:p>
            <a:r>
              <a:rPr lang="en-US" dirty="0"/>
              <a:t>Tableau </a:t>
            </a:r>
            <a:r>
              <a:rPr lang="en-US" dirty="0" err="1"/>
              <a:t>licences</a:t>
            </a:r>
            <a:r>
              <a:rPr lang="en-US" dirty="0"/>
              <a:t> are split into three roles:</a:t>
            </a:r>
          </a:p>
          <a:p>
            <a:r>
              <a:rPr lang="en-US" dirty="0"/>
              <a:t>Tableau Creator</a:t>
            </a:r>
          </a:p>
          <a:p>
            <a:r>
              <a:rPr lang="en-US" dirty="0"/>
              <a:t>• 	~£55 per user/month</a:t>
            </a:r>
          </a:p>
          <a:p>
            <a:r>
              <a:rPr lang="en-US" dirty="0"/>
              <a:t>• 	Required for building dashboards and data models</a:t>
            </a:r>
          </a:p>
          <a:p>
            <a:r>
              <a:rPr lang="en-US" dirty="0"/>
              <a:t>• 	Closest equivalent to Power BI Pro</a:t>
            </a:r>
          </a:p>
          <a:p>
            <a:r>
              <a:rPr lang="en-US" dirty="0"/>
              <a:t>Tableau Explorer</a:t>
            </a:r>
          </a:p>
          <a:p>
            <a:r>
              <a:rPr lang="en-US" dirty="0"/>
              <a:t>• 	~£34 per user/month</a:t>
            </a:r>
          </a:p>
          <a:p>
            <a:r>
              <a:rPr lang="en-US" dirty="0"/>
              <a:t>• 	For interacting with dashboards (not full creation)</a:t>
            </a:r>
          </a:p>
          <a:p>
            <a:r>
              <a:rPr lang="en-US" dirty="0"/>
              <a:t>Tableau Viewer</a:t>
            </a:r>
          </a:p>
          <a:p>
            <a:r>
              <a:rPr lang="en-US" dirty="0"/>
              <a:t>• 	~£12 per user/month</a:t>
            </a:r>
          </a:p>
          <a:p>
            <a:r>
              <a:rPr lang="en-US" dirty="0"/>
              <a:t>• 	For read‑only access</a:t>
            </a:r>
          </a:p>
          <a:p>
            <a:r>
              <a:rPr lang="en-US" dirty="0"/>
              <a:t>Lowest entry cost for a creator: ~£55/month</a:t>
            </a:r>
          </a:p>
        </p:txBody>
      </p:sp>
      <p:sp>
        <p:nvSpPr>
          <p:cNvPr id="4" name="Slide Number Placeholder 3"/>
          <p:cNvSpPr>
            <a:spLocks noGrp="1"/>
          </p:cNvSpPr>
          <p:nvPr>
            <p:ph type="sldNum" sz="quarter" idx="5"/>
          </p:nvPr>
        </p:nvSpPr>
        <p:spPr/>
        <p:txBody>
          <a:bodyPr/>
          <a:lstStyle/>
          <a:p>
            <a:fld id="{151FDF57-A14F-48D9-9E69-604C729D1E50}" type="slidenum">
              <a:rPr lang="en-GB" smtClean="0"/>
              <a:t>6</a:t>
            </a:fld>
            <a:endParaRPr lang="en-GB"/>
          </a:p>
        </p:txBody>
      </p:sp>
    </p:spTree>
    <p:extLst>
      <p:ext uri="{BB962C8B-B14F-4D97-AF65-F5344CB8AC3E}">
        <p14:creationId xmlns:p14="http://schemas.microsoft.com/office/powerpoint/2010/main" val="577167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stands out as the most balanced, scalable, and cost‑effective BI platform in today’s analytics landscape. While competitors like Tableau, Notion, NetSuite, and SAP Crystal Solutions each offer strengths, Power BI delivers the most comprehensive value across the full analytics lifecycle.</a:t>
            </a:r>
            <a:endParaRPr lang="en-GB" dirty="0"/>
          </a:p>
        </p:txBody>
      </p:sp>
      <p:sp>
        <p:nvSpPr>
          <p:cNvPr id="4" name="Slide Number Placeholder 3"/>
          <p:cNvSpPr>
            <a:spLocks noGrp="1"/>
          </p:cNvSpPr>
          <p:nvPr>
            <p:ph type="sldNum" sz="quarter" idx="5"/>
          </p:nvPr>
        </p:nvSpPr>
        <p:spPr/>
        <p:txBody>
          <a:bodyPr/>
          <a:lstStyle/>
          <a:p>
            <a:fld id="{151FDF57-A14F-48D9-9E69-604C729D1E50}" type="slidenum">
              <a:rPr lang="en-GB" smtClean="0"/>
              <a:t>7</a:t>
            </a:fld>
            <a:endParaRPr lang="en-GB"/>
          </a:p>
        </p:txBody>
      </p:sp>
    </p:spTree>
    <p:extLst>
      <p:ext uri="{BB962C8B-B14F-4D97-AF65-F5344CB8AC3E}">
        <p14:creationId xmlns:p14="http://schemas.microsoft.com/office/powerpoint/2010/main" val="303892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44C40-8F64-46F7-BD4D-60216E9AC0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805E4BB-7ACA-4872-B3DB-2ABE1ECC70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EBACF4D-1A2B-4257-801A-51FC789B94A4}"/>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5" name="Footer Placeholder 4">
            <a:extLst>
              <a:ext uri="{FF2B5EF4-FFF2-40B4-BE49-F238E27FC236}">
                <a16:creationId xmlns:a16="http://schemas.microsoft.com/office/drawing/2014/main" id="{66CDD975-F8AF-4B5F-ABC8-1BBD7EB7013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CB92CC-1B4F-46E3-AC5A-238716638CB1}"/>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3095380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E396B-F6AD-47A3-8C63-9429D309323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DB506A6-02A1-420D-9715-DA6C65B5FA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4BB8C25-C327-4312-B89D-7312E906C54B}"/>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5" name="Footer Placeholder 4">
            <a:extLst>
              <a:ext uri="{FF2B5EF4-FFF2-40B4-BE49-F238E27FC236}">
                <a16:creationId xmlns:a16="http://schemas.microsoft.com/office/drawing/2014/main" id="{B3B9137E-592E-4482-877D-5BEF5F4F91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D14549-1258-4E61-8A06-0F7C40D21576}"/>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1288501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83E59-A9F7-4F45-91FA-AEBE9748B4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FB6377C-A2F2-4A17-B53D-DE9A76E9B8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3472A2-61D9-4505-9E0D-C4659C64E875}"/>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5" name="Footer Placeholder 4">
            <a:extLst>
              <a:ext uri="{FF2B5EF4-FFF2-40B4-BE49-F238E27FC236}">
                <a16:creationId xmlns:a16="http://schemas.microsoft.com/office/drawing/2014/main" id="{07CEC98D-CCF1-49FC-B1C4-F6F6FBA3EAC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811B5E-CD56-47E7-9029-9E7F2DEAFAA5}"/>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3128767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396BF-0D0C-45A2-8010-A2E0362D6CD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B7C8A33-D974-47C2-8AF2-424D4D547A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C828DE9-622C-4B6E-B455-A663325BEF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6F6707-0095-455D-96DD-3358EBDD6BCB}"/>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6" name="Footer Placeholder 5">
            <a:extLst>
              <a:ext uri="{FF2B5EF4-FFF2-40B4-BE49-F238E27FC236}">
                <a16:creationId xmlns:a16="http://schemas.microsoft.com/office/drawing/2014/main" id="{209BE3AA-F650-43E9-A3D4-D170B5170C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6BAB50-0B65-469B-8B8E-99A1A1933356}"/>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3443585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78F09-BAF9-4CB2-80FE-7F8646CDABC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0F0B50F-06AB-4BED-80CB-111761A335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F4C8EA-E155-4995-875F-5A706F1C27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1E27398-3F36-4F9A-A786-9EC5885DB7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173C86-D02C-4E8E-A788-80BE4B6DFF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8C76921-7A99-45F2-A2ED-6D47B9D7F3A8}"/>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8" name="Footer Placeholder 7">
            <a:extLst>
              <a:ext uri="{FF2B5EF4-FFF2-40B4-BE49-F238E27FC236}">
                <a16:creationId xmlns:a16="http://schemas.microsoft.com/office/drawing/2014/main" id="{A0E40B29-D9BF-423B-B8E8-AB19BB807EA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A78B795-4D2C-425E-A51A-FE533C53ADE1}"/>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952155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3946D-63C9-4DD7-863E-ADA767A1A69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D1B3AC3-762B-4E84-B307-CFC76FE8A015}"/>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4" name="Footer Placeholder 3">
            <a:extLst>
              <a:ext uri="{FF2B5EF4-FFF2-40B4-BE49-F238E27FC236}">
                <a16:creationId xmlns:a16="http://schemas.microsoft.com/office/drawing/2014/main" id="{E488BFA3-9546-4332-925F-2EEC44862C4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FDB1CB7-4A76-47F3-A20E-83A96A061132}"/>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4131290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DD9ACD-E745-4B77-BFA9-37F7C993893B}"/>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3" name="Footer Placeholder 2">
            <a:extLst>
              <a:ext uri="{FF2B5EF4-FFF2-40B4-BE49-F238E27FC236}">
                <a16:creationId xmlns:a16="http://schemas.microsoft.com/office/drawing/2014/main" id="{CF3FE792-FCF0-4766-B650-17BFC9C31E5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901B780-4067-4456-906A-A1BF161B56EF}"/>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3112664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2967A-59A2-442E-8797-0FE7A99FC7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D5DB45C-A1F9-460E-A6FF-55F5163208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A7DFF3-2829-477E-B594-971C8E154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5B15A6-69B6-419E-9038-763EB4E83016}"/>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6" name="Footer Placeholder 5">
            <a:extLst>
              <a:ext uri="{FF2B5EF4-FFF2-40B4-BE49-F238E27FC236}">
                <a16:creationId xmlns:a16="http://schemas.microsoft.com/office/drawing/2014/main" id="{ED30535F-AE62-46D1-8D15-C370FA640FD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D0977C8-86A8-4D9E-9D59-CE02D17C09B4}"/>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1164525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1137C-D52C-4A7A-A522-80807A1E13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41030FB-63FF-44A6-8A57-823A6B661C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6987A78-7AA5-4F5C-8F8D-3F4700FF1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C8F00F-7F18-4E56-87C8-2ED24B3CFA84}"/>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6" name="Footer Placeholder 5">
            <a:extLst>
              <a:ext uri="{FF2B5EF4-FFF2-40B4-BE49-F238E27FC236}">
                <a16:creationId xmlns:a16="http://schemas.microsoft.com/office/drawing/2014/main" id="{ED67B28C-B3E8-4A0A-AFE6-D8A783F3B8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42135F-4A38-4ACA-A069-055B9FD74C39}"/>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335999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2187-6804-42DB-A476-0940268A8F0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2C8AB3C-3DA5-4CB1-B39E-D47E439B76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806873-B1FE-4D67-9699-269133AC6A8E}"/>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5" name="Footer Placeholder 4">
            <a:extLst>
              <a:ext uri="{FF2B5EF4-FFF2-40B4-BE49-F238E27FC236}">
                <a16:creationId xmlns:a16="http://schemas.microsoft.com/office/drawing/2014/main" id="{60F2DA6C-9600-4F9C-BACC-0D31E540F1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262BFF-280E-475C-9C47-E442D5BF2B5D}"/>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1779994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99C98B-0346-477A-9ABE-4A937819A9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CD2397-AEF5-43B9-9257-76AF99F584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49F461-AAD7-4015-B268-139BDA58B097}"/>
              </a:ext>
            </a:extLst>
          </p:cNvPr>
          <p:cNvSpPr>
            <a:spLocks noGrp="1"/>
          </p:cNvSpPr>
          <p:nvPr>
            <p:ph type="dt" sz="half" idx="10"/>
          </p:nvPr>
        </p:nvSpPr>
        <p:spPr/>
        <p:txBody>
          <a:bodyPr/>
          <a:lstStyle/>
          <a:p>
            <a:fld id="{847496B3-EEEB-4EDB-AA9A-CB0DAF98AAE8}" type="datetimeFigureOut">
              <a:rPr lang="en-GB" smtClean="0"/>
              <a:t>19/02/2026</a:t>
            </a:fld>
            <a:endParaRPr lang="en-GB"/>
          </a:p>
        </p:txBody>
      </p:sp>
      <p:sp>
        <p:nvSpPr>
          <p:cNvPr id="5" name="Footer Placeholder 4">
            <a:extLst>
              <a:ext uri="{FF2B5EF4-FFF2-40B4-BE49-F238E27FC236}">
                <a16:creationId xmlns:a16="http://schemas.microsoft.com/office/drawing/2014/main" id="{96D12CC8-2D2E-4686-BACD-F56E6CF79E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93F6B62-1335-4D46-A1A9-54E080C27721}"/>
              </a:ext>
            </a:extLst>
          </p:cNvPr>
          <p:cNvSpPr>
            <a:spLocks noGrp="1"/>
          </p:cNvSpPr>
          <p:nvPr>
            <p:ph type="sldNum" sz="quarter" idx="12"/>
          </p:nvPr>
        </p:nvSpPr>
        <p:spPr/>
        <p:txBody>
          <a:bodyPr/>
          <a:lstStyle/>
          <a:p>
            <a:fld id="{5B4D529C-CAEE-4223-9095-BC04CA0FC41B}" type="slidenum">
              <a:rPr lang="en-GB" smtClean="0"/>
              <a:t>‹#›</a:t>
            </a:fld>
            <a:endParaRPr lang="en-GB"/>
          </a:p>
        </p:txBody>
      </p:sp>
    </p:spTree>
    <p:extLst>
      <p:ext uri="{BB962C8B-B14F-4D97-AF65-F5344CB8AC3E}">
        <p14:creationId xmlns:p14="http://schemas.microsoft.com/office/powerpoint/2010/main" val="4238965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BBFB7-21F8-48CC-98AA-B5D7CDB4F8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84D4612-5BEE-4AD5-82CC-C4C93856BB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DC6796-5891-4614-AF25-16C365E5B2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7496B3-EEEB-4EDB-AA9A-CB0DAF98AAE8}" type="datetimeFigureOut">
              <a:rPr lang="en-GB" smtClean="0"/>
              <a:t>19/02/2026</a:t>
            </a:fld>
            <a:endParaRPr lang="en-GB"/>
          </a:p>
        </p:txBody>
      </p:sp>
      <p:sp>
        <p:nvSpPr>
          <p:cNvPr id="5" name="Footer Placeholder 4">
            <a:extLst>
              <a:ext uri="{FF2B5EF4-FFF2-40B4-BE49-F238E27FC236}">
                <a16:creationId xmlns:a16="http://schemas.microsoft.com/office/drawing/2014/main" id="{5EC02C58-E2A9-4389-A8AC-076387CEB0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8728251-A778-4B6B-A88B-B3698B38C5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4D529C-CAEE-4223-9095-BC04CA0FC41B}" type="slidenum">
              <a:rPr lang="en-GB" smtClean="0"/>
              <a:t>‹#›</a:t>
            </a:fld>
            <a:endParaRPr lang="en-GB"/>
          </a:p>
        </p:txBody>
      </p:sp>
    </p:spTree>
    <p:extLst>
      <p:ext uri="{BB962C8B-B14F-4D97-AF65-F5344CB8AC3E}">
        <p14:creationId xmlns:p14="http://schemas.microsoft.com/office/powerpoint/2010/main" val="4148059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4D5E340-8BFA-4960-AEAC-EF305B55F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69" y="88721"/>
            <a:ext cx="2678594" cy="14881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6EF429-1BAA-4C5E-BCD6-D5B89D8739B1}"/>
              </a:ext>
            </a:extLst>
          </p:cNvPr>
          <p:cNvSpPr txBox="1"/>
          <p:nvPr/>
        </p:nvSpPr>
        <p:spPr>
          <a:xfrm>
            <a:off x="318018" y="1715984"/>
            <a:ext cx="6249037" cy="1877437"/>
          </a:xfrm>
          <a:prstGeom prst="rect">
            <a:avLst/>
          </a:prstGeom>
          <a:noFill/>
        </p:spPr>
        <p:txBody>
          <a:bodyPr wrap="square" rtlCol="0">
            <a:spAutoFit/>
          </a:bodyPr>
          <a:lstStyle/>
          <a:p>
            <a:r>
              <a:rPr lang="en-US" b="1" dirty="0"/>
              <a:t>Introduction</a:t>
            </a:r>
          </a:p>
          <a:p>
            <a:endParaRPr lang="en-US" dirty="0"/>
          </a:p>
          <a:p>
            <a:r>
              <a:rPr lang="en-US" sz="1600" b="0" i="0" dirty="0">
                <a:solidFill>
                  <a:srgbClr val="161616"/>
                </a:solidFill>
                <a:effectLst/>
                <a:latin typeface="Segoe UI" panose="020B0502040204020203" pitchFamily="34" charset="0"/>
              </a:rPr>
              <a:t>Power BI is Microsoft's business analytics platform that helps you turn data into actionable insights. Whether you're a business user, report creator, or developer, Power BI offers integrated tools and services to connect, visualize, and share data across your organization.</a:t>
            </a:r>
            <a:endParaRPr lang="en-GB" dirty="0"/>
          </a:p>
        </p:txBody>
      </p:sp>
      <p:pic>
        <p:nvPicPr>
          <p:cNvPr id="5" name="Picture 4">
            <a:extLst>
              <a:ext uri="{FF2B5EF4-FFF2-40B4-BE49-F238E27FC236}">
                <a16:creationId xmlns:a16="http://schemas.microsoft.com/office/drawing/2014/main" id="{1EC2239B-66DD-4EF1-B9C1-461C1552E89A}"/>
              </a:ext>
            </a:extLst>
          </p:cNvPr>
          <p:cNvPicPr>
            <a:picLocks noChangeAspect="1"/>
          </p:cNvPicPr>
          <p:nvPr/>
        </p:nvPicPr>
        <p:blipFill>
          <a:blip r:embed="rId3"/>
          <a:stretch>
            <a:fillRect/>
          </a:stretch>
        </p:blipFill>
        <p:spPr>
          <a:xfrm>
            <a:off x="6840187" y="3211081"/>
            <a:ext cx="5090623" cy="3388163"/>
          </a:xfrm>
          <a:prstGeom prst="rect">
            <a:avLst/>
          </a:prstGeom>
        </p:spPr>
      </p:pic>
    </p:spTree>
    <p:extLst>
      <p:ext uri="{BB962C8B-B14F-4D97-AF65-F5344CB8AC3E}">
        <p14:creationId xmlns:p14="http://schemas.microsoft.com/office/powerpoint/2010/main" val="1752298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2C9CA-CCA5-4918-A0DD-4662618DF4D9}"/>
              </a:ext>
            </a:extLst>
          </p:cNvPr>
          <p:cNvSpPr>
            <a:spLocks noGrp="1"/>
          </p:cNvSpPr>
          <p:nvPr>
            <p:ph type="title"/>
          </p:nvPr>
        </p:nvSpPr>
        <p:spPr/>
        <p:txBody>
          <a:bodyPr/>
          <a:lstStyle/>
          <a:p>
            <a:r>
              <a:rPr lang="en-US" dirty="0"/>
              <a:t>Product Overview</a:t>
            </a:r>
            <a:endParaRPr lang="en-GB" dirty="0"/>
          </a:p>
        </p:txBody>
      </p:sp>
      <p:sp>
        <p:nvSpPr>
          <p:cNvPr id="3" name="Content Placeholder 2">
            <a:extLst>
              <a:ext uri="{FF2B5EF4-FFF2-40B4-BE49-F238E27FC236}">
                <a16:creationId xmlns:a16="http://schemas.microsoft.com/office/drawing/2014/main" id="{7A19C486-77B5-4C59-892C-67B5562D3905}"/>
              </a:ext>
            </a:extLst>
          </p:cNvPr>
          <p:cNvSpPr>
            <a:spLocks noGrp="1"/>
          </p:cNvSpPr>
          <p:nvPr>
            <p:ph sz="half" idx="1"/>
          </p:nvPr>
        </p:nvSpPr>
        <p:spPr>
          <a:xfrm>
            <a:off x="838200" y="1770063"/>
            <a:ext cx="5181600" cy="2046288"/>
          </a:xfrm>
        </p:spPr>
        <p:txBody>
          <a:bodyPr>
            <a:normAutofit fontScale="85000" lnSpcReduction="20000"/>
          </a:bodyPr>
          <a:lstStyle/>
          <a:p>
            <a:pPr marL="0" indent="0">
              <a:buNone/>
            </a:pPr>
            <a:r>
              <a:rPr lang="en-US" sz="3100" dirty="0"/>
              <a:t> 1</a:t>
            </a:r>
            <a:r>
              <a:rPr lang="en-US" dirty="0"/>
              <a:t>. What is Power BI?</a:t>
            </a:r>
          </a:p>
          <a:p>
            <a:r>
              <a:rPr lang="en-US" sz="1900" dirty="0"/>
              <a:t>Cloud‑based analytics and BI platform</a:t>
            </a:r>
          </a:p>
          <a:p>
            <a:r>
              <a:rPr lang="en-US" sz="1900" dirty="0"/>
              <a:t>Turns raw data into interactive dashboards and reports</a:t>
            </a:r>
          </a:p>
          <a:p>
            <a:r>
              <a:rPr lang="en-US" sz="1900" dirty="0"/>
              <a:t>Supports both self‑service and enterprise analytics</a:t>
            </a:r>
            <a:endParaRPr lang="en-GB" sz="1900" dirty="0"/>
          </a:p>
        </p:txBody>
      </p:sp>
      <p:sp>
        <p:nvSpPr>
          <p:cNvPr id="4" name="Content Placeholder 3">
            <a:extLst>
              <a:ext uri="{FF2B5EF4-FFF2-40B4-BE49-F238E27FC236}">
                <a16:creationId xmlns:a16="http://schemas.microsoft.com/office/drawing/2014/main" id="{DB51782B-A1D5-441B-AD61-E06368E7B48E}"/>
              </a:ext>
            </a:extLst>
          </p:cNvPr>
          <p:cNvSpPr>
            <a:spLocks noGrp="1"/>
          </p:cNvSpPr>
          <p:nvPr>
            <p:ph sz="half" idx="2"/>
          </p:nvPr>
        </p:nvSpPr>
        <p:spPr>
          <a:xfrm>
            <a:off x="6500813" y="1723232"/>
            <a:ext cx="5181600" cy="1981995"/>
          </a:xfrm>
        </p:spPr>
        <p:txBody>
          <a:bodyPr>
            <a:normAutofit fontScale="85000" lnSpcReduction="20000"/>
          </a:bodyPr>
          <a:lstStyle/>
          <a:p>
            <a:pPr marL="0" indent="0">
              <a:buNone/>
            </a:pPr>
            <a:r>
              <a:rPr lang="en-US" dirty="0"/>
              <a:t>2. Key Capabilities </a:t>
            </a:r>
          </a:p>
          <a:p>
            <a:r>
              <a:rPr lang="en-US" sz="1900" dirty="0"/>
              <a:t>Connect to 100+ data sources</a:t>
            </a:r>
          </a:p>
          <a:p>
            <a:r>
              <a:rPr lang="en-US" sz="1900" dirty="0"/>
              <a:t>Clean and transform data with Power Query</a:t>
            </a:r>
          </a:p>
          <a:p>
            <a:r>
              <a:rPr lang="en-US" sz="1900" dirty="0"/>
              <a:t>Build semantic models using DAX</a:t>
            </a:r>
          </a:p>
          <a:p>
            <a:r>
              <a:rPr lang="en-US" sz="1900" dirty="0"/>
              <a:t>Rich visualization's and interactive reporting</a:t>
            </a:r>
          </a:p>
          <a:p>
            <a:r>
              <a:rPr lang="en-US" sz="1900" dirty="0"/>
              <a:t>AI‑powered insights and natural language Q&amp;A</a:t>
            </a:r>
            <a:endParaRPr lang="en-GB" sz="1900" dirty="0"/>
          </a:p>
        </p:txBody>
      </p:sp>
      <p:sp>
        <p:nvSpPr>
          <p:cNvPr id="5" name="Content Placeholder 2">
            <a:extLst>
              <a:ext uri="{FF2B5EF4-FFF2-40B4-BE49-F238E27FC236}">
                <a16:creationId xmlns:a16="http://schemas.microsoft.com/office/drawing/2014/main" id="{C27CFCF0-ECA2-4C10-81ED-6A4F28AE3986}"/>
              </a:ext>
            </a:extLst>
          </p:cNvPr>
          <p:cNvSpPr txBox="1">
            <a:spLocks/>
          </p:cNvSpPr>
          <p:nvPr/>
        </p:nvSpPr>
        <p:spPr>
          <a:xfrm>
            <a:off x="6500813" y="4044950"/>
            <a:ext cx="5181600" cy="204628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4. Why Organization's Choose Power BI </a:t>
            </a:r>
          </a:p>
          <a:p>
            <a:r>
              <a:rPr lang="en-US" sz="1900" dirty="0"/>
              <a:t> Cost‑effective licensing</a:t>
            </a:r>
          </a:p>
          <a:p>
            <a:r>
              <a:rPr lang="en-US" sz="1900" dirty="0"/>
              <a:t> Easy for beginners, powerful for analysts</a:t>
            </a:r>
          </a:p>
          <a:p>
            <a:r>
              <a:rPr lang="en-US" sz="1900" dirty="0"/>
              <a:t> Deep integration with Microsoft 365 &amp; Azure</a:t>
            </a:r>
          </a:p>
          <a:p>
            <a:r>
              <a:rPr lang="en-US" sz="1900" dirty="0"/>
              <a:t> Scales from small teams to global enterprises</a:t>
            </a:r>
          </a:p>
          <a:p>
            <a:r>
              <a:rPr lang="en-US" sz="1900" dirty="0"/>
              <a:t> Continuous monthly updates</a:t>
            </a:r>
          </a:p>
        </p:txBody>
      </p:sp>
      <p:sp>
        <p:nvSpPr>
          <p:cNvPr id="6" name="Content Placeholder 2">
            <a:extLst>
              <a:ext uri="{FF2B5EF4-FFF2-40B4-BE49-F238E27FC236}">
                <a16:creationId xmlns:a16="http://schemas.microsoft.com/office/drawing/2014/main" id="{723B5066-B7A6-4427-A0A6-8634EA859407}"/>
              </a:ext>
            </a:extLst>
          </p:cNvPr>
          <p:cNvSpPr txBox="1">
            <a:spLocks/>
          </p:cNvSpPr>
          <p:nvPr/>
        </p:nvSpPr>
        <p:spPr>
          <a:xfrm>
            <a:off x="838200" y="4044950"/>
            <a:ext cx="5181600" cy="204628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3. </a:t>
            </a:r>
            <a:r>
              <a:rPr lang="en-US" sz="2600" dirty="0"/>
              <a:t>Core Components </a:t>
            </a:r>
          </a:p>
          <a:p>
            <a:r>
              <a:rPr lang="en-US" sz="1700" dirty="0"/>
              <a:t> Power BI Desktop – report creation</a:t>
            </a:r>
          </a:p>
          <a:p>
            <a:r>
              <a:rPr lang="en-US" sz="1700" dirty="0"/>
              <a:t> Power BI Service – sharing &amp; governance</a:t>
            </a:r>
          </a:p>
          <a:p>
            <a:r>
              <a:rPr lang="en-US" sz="1700" dirty="0"/>
              <a:t> Power BI Mobile – on‑the‑go access</a:t>
            </a:r>
          </a:p>
          <a:p>
            <a:r>
              <a:rPr lang="en-US" sz="1700" dirty="0"/>
              <a:t> Gateway – on‑premises connectivity</a:t>
            </a:r>
          </a:p>
          <a:p>
            <a:r>
              <a:rPr lang="en-US" sz="1700" dirty="0"/>
              <a:t> Fabric Integration – unified analytics platform</a:t>
            </a:r>
          </a:p>
        </p:txBody>
      </p:sp>
    </p:spTree>
    <p:extLst>
      <p:ext uri="{BB962C8B-B14F-4D97-AF65-F5344CB8AC3E}">
        <p14:creationId xmlns:p14="http://schemas.microsoft.com/office/powerpoint/2010/main" val="764828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D9B4B-EBE3-44E3-993A-98D130D1B89D}"/>
              </a:ext>
            </a:extLst>
          </p:cNvPr>
          <p:cNvSpPr>
            <a:spLocks noGrp="1"/>
          </p:cNvSpPr>
          <p:nvPr>
            <p:ph type="title"/>
          </p:nvPr>
        </p:nvSpPr>
        <p:spPr/>
        <p:txBody>
          <a:bodyPr/>
          <a:lstStyle/>
          <a:p>
            <a:r>
              <a:rPr lang="en-US" dirty="0"/>
              <a:t>SWOT Analysis</a:t>
            </a:r>
            <a:endParaRPr lang="en-GB" dirty="0"/>
          </a:p>
        </p:txBody>
      </p:sp>
      <p:sp>
        <p:nvSpPr>
          <p:cNvPr id="3" name="Content Placeholder 2">
            <a:extLst>
              <a:ext uri="{FF2B5EF4-FFF2-40B4-BE49-F238E27FC236}">
                <a16:creationId xmlns:a16="http://schemas.microsoft.com/office/drawing/2014/main" id="{8BB65858-C0F1-4C4C-B822-4FA35DC3AE72}"/>
              </a:ext>
            </a:extLst>
          </p:cNvPr>
          <p:cNvSpPr>
            <a:spLocks noGrp="1"/>
          </p:cNvSpPr>
          <p:nvPr>
            <p:ph idx="1"/>
          </p:nvPr>
        </p:nvSpPr>
        <p:spPr>
          <a:xfrm>
            <a:off x="6096000" y="1909484"/>
            <a:ext cx="5831158" cy="4325061"/>
          </a:xfrm>
        </p:spPr>
        <p:txBody>
          <a:bodyPr>
            <a:normAutofit/>
          </a:bodyPr>
          <a:lstStyle/>
          <a:p>
            <a:pPr marL="0" indent="0">
              <a:buNone/>
            </a:pPr>
            <a:r>
              <a:rPr lang="en-US" dirty="0"/>
              <a:t>Weaknesses</a:t>
            </a:r>
          </a:p>
          <a:p>
            <a:r>
              <a:rPr lang="en-GB" sz="1800" dirty="0"/>
              <a:t>Learning curve for DAX and modelling</a:t>
            </a:r>
            <a:br>
              <a:rPr lang="en-GB" sz="1800" dirty="0"/>
            </a:br>
            <a:r>
              <a:rPr lang="en-GB" sz="1200" dirty="0"/>
              <a:t>Beginners often struggle with relationships, star schemas, and DAX functions.</a:t>
            </a:r>
          </a:p>
          <a:p>
            <a:r>
              <a:rPr lang="en-GB" sz="1800" dirty="0"/>
              <a:t>Performance issues with very large datasets</a:t>
            </a:r>
            <a:br>
              <a:rPr lang="en-GB" sz="1800" dirty="0"/>
            </a:br>
            <a:r>
              <a:rPr lang="en-GB" sz="1200" dirty="0"/>
              <a:t>Import mode can hit memory limits; </a:t>
            </a:r>
            <a:r>
              <a:rPr lang="en-GB" sz="1200" dirty="0" err="1"/>
              <a:t>DirectQuery</a:t>
            </a:r>
            <a:r>
              <a:rPr lang="en-GB" sz="1200" dirty="0"/>
              <a:t> can be slow depending on the source</a:t>
            </a:r>
          </a:p>
          <a:p>
            <a:r>
              <a:rPr lang="en-GB" sz="1800" dirty="0"/>
              <a:t>Limited advanced customisation vs. Tableau</a:t>
            </a:r>
            <a:br>
              <a:rPr lang="en-GB" sz="1800" dirty="0"/>
            </a:br>
            <a:r>
              <a:rPr lang="en-GB" sz="1200" dirty="0"/>
              <a:t>Visuals are powerful but sometimes less flexible for highly bespoke dashboards</a:t>
            </a:r>
          </a:p>
          <a:p>
            <a:r>
              <a:rPr lang="en-GB" sz="1800" dirty="0"/>
              <a:t>Complex governance at scale</a:t>
            </a:r>
            <a:br>
              <a:rPr lang="en-GB" sz="1800" dirty="0"/>
            </a:br>
            <a:r>
              <a:rPr lang="en-GB" sz="1200" dirty="0"/>
              <a:t>Managing workspaces, permission, and deployment pipelines can get messy without strong governance.</a:t>
            </a:r>
          </a:p>
        </p:txBody>
      </p:sp>
      <p:sp>
        <p:nvSpPr>
          <p:cNvPr id="4" name="Content Placeholder 2">
            <a:extLst>
              <a:ext uri="{FF2B5EF4-FFF2-40B4-BE49-F238E27FC236}">
                <a16:creationId xmlns:a16="http://schemas.microsoft.com/office/drawing/2014/main" id="{3C07239C-CCD1-4855-91F4-17A1DBF2C161}"/>
              </a:ext>
            </a:extLst>
          </p:cNvPr>
          <p:cNvSpPr txBox="1">
            <a:spLocks/>
          </p:cNvSpPr>
          <p:nvPr/>
        </p:nvSpPr>
        <p:spPr>
          <a:xfrm>
            <a:off x="941116" y="1856045"/>
            <a:ext cx="5154884" cy="4378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Strengths</a:t>
            </a:r>
          </a:p>
          <a:p>
            <a:r>
              <a:rPr lang="en-US" sz="1800" dirty="0"/>
              <a:t>Deep integration with Microsoft ecosystem</a:t>
            </a:r>
            <a:br>
              <a:rPr lang="en-US" sz="1200" dirty="0"/>
            </a:br>
            <a:r>
              <a:rPr lang="en-US" sz="1200" i="1" dirty="0"/>
              <a:t>Works seamlessly with Excel, Azure, SQL Server, Teams, SharePoint, and Office 365</a:t>
            </a:r>
            <a:endParaRPr lang="en-US" sz="900" i="1" dirty="0"/>
          </a:p>
          <a:p>
            <a:r>
              <a:rPr lang="en-US" sz="1800" dirty="0"/>
              <a:t>Cost Effective</a:t>
            </a:r>
            <a:br>
              <a:rPr lang="en-US" sz="1200" dirty="0"/>
            </a:br>
            <a:r>
              <a:rPr lang="en-US" sz="1200" i="1" dirty="0"/>
              <a:t>Power BI is free, and Pro licensing is relative inexpensive compared to Tableau or Qlik.</a:t>
            </a:r>
          </a:p>
          <a:p>
            <a:r>
              <a:rPr lang="en-US" sz="1800" dirty="0"/>
              <a:t>Strong data modelling capabilities</a:t>
            </a:r>
            <a:br>
              <a:rPr lang="en-US" sz="1200" dirty="0"/>
            </a:br>
            <a:r>
              <a:rPr lang="en-US" sz="1200" i="1" dirty="0"/>
              <a:t>Uses DAX and Power Query, enabling robust transformations and analytics.</a:t>
            </a:r>
          </a:p>
          <a:p>
            <a:r>
              <a:rPr lang="en-US" sz="1800" dirty="0"/>
              <a:t>Frequent Updates</a:t>
            </a:r>
            <a:br>
              <a:rPr lang="en-US" sz="1000" i="1" dirty="0"/>
            </a:br>
            <a:r>
              <a:rPr lang="en-US" sz="1200" i="1" dirty="0"/>
              <a:t>Monthly enhancements keeping the platform modern and competitive.</a:t>
            </a:r>
          </a:p>
          <a:p>
            <a:r>
              <a:rPr lang="en-US" sz="1800" dirty="0"/>
              <a:t>Large community &amp; learning resources</a:t>
            </a:r>
            <a:br>
              <a:rPr lang="en-US" sz="1200" dirty="0"/>
            </a:br>
            <a:r>
              <a:rPr lang="en-US" sz="1200" dirty="0"/>
              <a:t>Huge user base, tutorials, forums, templates, and community visuals.</a:t>
            </a:r>
          </a:p>
          <a:p>
            <a:r>
              <a:rPr lang="en-US" sz="1800" dirty="0"/>
              <a:t>AI-powered features</a:t>
            </a:r>
            <a:br>
              <a:rPr lang="en-US" sz="1200" dirty="0"/>
            </a:br>
            <a:r>
              <a:rPr lang="en-US" sz="1200" dirty="0"/>
              <a:t>Smart narratives, Q&amp;A natural language queries, automated insights.</a:t>
            </a:r>
          </a:p>
          <a:p>
            <a:endParaRPr lang="en-US" sz="1200" dirty="0"/>
          </a:p>
        </p:txBody>
      </p:sp>
    </p:spTree>
    <p:extLst>
      <p:ext uri="{BB962C8B-B14F-4D97-AF65-F5344CB8AC3E}">
        <p14:creationId xmlns:p14="http://schemas.microsoft.com/office/powerpoint/2010/main" val="2589520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9FB1A-F22D-4C3D-98FC-DA7D26363B6A}"/>
              </a:ext>
            </a:extLst>
          </p:cNvPr>
          <p:cNvSpPr>
            <a:spLocks noGrp="1"/>
          </p:cNvSpPr>
          <p:nvPr>
            <p:ph type="title"/>
          </p:nvPr>
        </p:nvSpPr>
        <p:spPr/>
        <p:txBody>
          <a:bodyPr/>
          <a:lstStyle/>
          <a:p>
            <a:r>
              <a:rPr lang="en-US" dirty="0"/>
              <a:t>SWOT Analysis</a:t>
            </a:r>
            <a:endParaRPr lang="en-GB" dirty="0"/>
          </a:p>
        </p:txBody>
      </p:sp>
      <p:sp>
        <p:nvSpPr>
          <p:cNvPr id="4" name="Content Placeholder 2">
            <a:extLst>
              <a:ext uri="{FF2B5EF4-FFF2-40B4-BE49-F238E27FC236}">
                <a16:creationId xmlns:a16="http://schemas.microsoft.com/office/drawing/2014/main" id="{39BBB726-11F9-4481-A404-93AA7CDF14F0}"/>
              </a:ext>
            </a:extLst>
          </p:cNvPr>
          <p:cNvSpPr txBox="1">
            <a:spLocks/>
          </p:cNvSpPr>
          <p:nvPr/>
        </p:nvSpPr>
        <p:spPr>
          <a:xfrm>
            <a:off x="941116" y="1856045"/>
            <a:ext cx="5266803" cy="4378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Opportunities</a:t>
            </a:r>
            <a:br>
              <a:rPr lang="en-US" dirty="0"/>
            </a:br>
            <a:endParaRPr lang="en-US" sz="1200" dirty="0"/>
          </a:p>
          <a:p>
            <a:r>
              <a:rPr lang="en-US" sz="1800" dirty="0"/>
              <a:t>Growing demand for self-service BI</a:t>
            </a:r>
            <a:br>
              <a:rPr lang="en-US" sz="1200" dirty="0"/>
            </a:br>
            <a:r>
              <a:rPr lang="en-US" sz="1200" dirty="0"/>
              <a:t>Organization's want non-technical users to build dashboards – Power BI fits perfectly</a:t>
            </a:r>
          </a:p>
          <a:p>
            <a:r>
              <a:rPr lang="en-US" sz="1800" dirty="0"/>
              <a:t>Expansion into AI &amp; Copilot integration</a:t>
            </a:r>
            <a:br>
              <a:rPr lang="en-US" sz="900" dirty="0"/>
            </a:br>
            <a:r>
              <a:rPr lang="en-US" sz="1200" dirty="0"/>
              <a:t>Microsoft is embedding more generative AI into Power BI, making insights easier to produce.</a:t>
            </a:r>
          </a:p>
          <a:p>
            <a:r>
              <a:rPr lang="en-US" sz="1800" dirty="0"/>
              <a:t>Enterprise adoption via Fabric</a:t>
            </a:r>
            <a:br>
              <a:rPr lang="en-US" sz="900" dirty="0"/>
            </a:br>
            <a:r>
              <a:rPr lang="en-US" sz="1200" dirty="0"/>
              <a:t>Power BI is now part of Microsoft Fabric, opening opportunities for unified data engineering.</a:t>
            </a:r>
          </a:p>
          <a:p>
            <a:r>
              <a:rPr lang="en-US" sz="1800" dirty="0"/>
              <a:t>Increasing cloud migration</a:t>
            </a:r>
            <a:br>
              <a:rPr lang="en-US" sz="900" dirty="0"/>
            </a:br>
            <a:r>
              <a:rPr lang="en-US" sz="1200" dirty="0"/>
              <a:t>As companies move to Azure, Power BI becomes the natural analytics layer.</a:t>
            </a:r>
          </a:p>
        </p:txBody>
      </p:sp>
      <p:sp>
        <p:nvSpPr>
          <p:cNvPr id="5" name="Content Placeholder 2">
            <a:extLst>
              <a:ext uri="{FF2B5EF4-FFF2-40B4-BE49-F238E27FC236}">
                <a16:creationId xmlns:a16="http://schemas.microsoft.com/office/drawing/2014/main" id="{26B6597E-F15C-461A-A2B8-D0F0113CB342}"/>
              </a:ext>
            </a:extLst>
          </p:cNvPr>
          <p:cNvSpPr txBox="1">
            <a:spLocks/>
          </p:cNvSpPr>
          <p:nvPr/>
        </p:nvSpPr>
        <p:spPr>
          <a:xfrm>
            <a:off x="6686794" y="1856045"/>
            <a:ext cx="5266803" cy="4378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Threats</a:t>
            </a:r>
          </a:p>
          <a:p>
            <a:r>
              <a:rPr lang="en-US" sz="1800" dirty="0"/>
              <a:t>Strong competition</a:t>
            </a:r>
            <a:br>
              <a:rPr lang="en-US" sz="1200" dirty="0"/>
            </a:br>
            <a:r>
              <a:rPr lang="en-US" sz="1200" dirty="0"/>
              <a:t>Tableau, Qlik, Looker, and even open-source tools challenge Power BI’s market share</a:t>
            </a:r>
          </a:p>
          <a:p>
            <a:r>
              <a:rPr lang="en-US" sz="1800" dirty="0"/>
              <a:t>Dependence on Microsoft ecosystem</a:t>
            </a:r>
            <a:br>
              <a:rPr lang="en-US" sz="900" dirty="0"/>
            </a:br>
            <a:r>
              <a:rPr lang="en-US" sz="1200" dirty="0"/>
              <a:t>Organization's heavily invested in AWS or Google Cloud may prefer native tools.</a:t>
            </a:r>
          </a:p>
          <a:p>
            <a:r>
              <a:rPr lang="en-US" sz="1800" dirty="0"/>
              <a:t>Data privacy &amp; compliance concerns</a:t>
            </a:r>
            <a:br>
              <a:rPr lang="en-US" sz="1200" dirty="0"/>
            </a:br>
            <a:r>
              <a:rPr lang="en-US" sz="1200" dirty="0"/>
              <a:t>Some industries restrict cloud-based analytics, limiting Power BI’s deployment options.</a:t>
            </a:r>
          </a:p>
          <a:p>
            <a:r>
              <a:rPr lang="en-US" sz="1800" dirty="0"/>
              <a:t>Rapid evolution of AI analytics</a:t>
            </a:r>
            <a:br>
              <a:rPr lang="en-US" sz="900" dirty="0"/>
            </a:br>
            <a:r>
              <a:rPr lang="en-US" sz="1200" dirty="0"/>
              <a:t>New AI-driven BI tools could disrupt traditional dashboarding platforms.</a:t>
            </a:r>
          </a:p>
        </p:txBody>
      </p:sp>
    </p:spTree>
    <p:extLst>
      <p:ext uri="{BB962C8B-B14F-4D97-AF65-F5344CB8AC3E}">
        <p14:creationId xmlns:p14="http://schemas.microsoft.com/office/powerpoint/2010/main" val="1831586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AEB2-0EAA-4C79-A506-B0D4A1B1F906}"/>
              </a:ext>
            </a:extLst>
          </p:cNvPr>
          <p:cNvSpPr>
            <a:spLocks noGrp="1"/>
          </p:cNvSpPr>
          <p:nvPr>
            <p:ph type="title"/>
          </p:nvPr>
        </p:nvSpPr>
        <p:spPr/>
        <p:txBody>
          <a:bodyPr/>
          <a:lstStyle/>
          <a:p>
            <a:r>
              <a:rPr lang="en-US" dirty="0"/>
              <a:t>Market Analysis</a:t>
            </a:r>
            <a:endParaRPr lang="en-GB" dirty="0"/>
          </a:p>
        </p:txBody>
      </p:sp>
      <p:graphicFrame>
        <p:nvGraphicFramePr>
          <p:cNvPr id="9" name="Content Placeholder 8">
            <a:extLst>
              <a:ext uri="{FF2B5EF4-FFF2-40B4-BE49-F238E27FC236}">
                <a16:creationId xmlns:a16="http://schemas.microsoft.com/office/drawing/2014/main" id="{33AA779B-83B0-4447-A0D4-22C7DC040721}"/>
              </a:ext>
            </a:extLst>
          </p:cNvPr>
          <p:cNvGraphicFramePr>
            <a:graphicFrameLocks noGrp="1"/>
          </p:cNvGraphicFramePr>
          <p:nvPr>
            <p:ph idx="1"/>
            <p:extLst>
              <p:ext uri="{D42A27DB-BD31-4B8C-83A1-F6EECF244321}">
                <p14:modId xmlns:p14="http://schemas.microsoft.com/office/powerpoint/2010/main" val="1879787063"/>
              </p:ext>
            </p:extLst>
          </p:nvPr>
        </p:nvGraphicFramePr>
        <p:xfrm>
          <a:off x="838200" y="1804194"/>
          <a:ext cx="4005263" cy="379650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26B4B208-6DAA-47A1-BF00-4E89A7D06890}"/>
              </a:ext>
            </a:extLst>
          </p:cNvPr>
          <p:cNvSpPr txBox="1"/>
          <p:nvPr/>
        </p:nvSpPr>
        <p:spPr>
          <a:xfrm>
            <a:off x="6096000" y="1804194"/>
            <a:ext cx="5984081" cy="4893647"/>
          </a:xfrm>
          <a:prstGeom prst="rect">
            <a:avLst/>
          </a:prstGeom>
          <a:noFill/>
        </p:spPr>
        <p:txBody>
          <a:bodyPr wrap="square" rtlCol="0">
            <a:spAutoFit/>
          </a:bodyPr>
          <a:lstStyle/>
          <a:p>
            <a:pPr marL="285750" indent="-285750">
              <a:buFont typeface="Arial" panose="020B0604020202020204" pitchFamily="34" charset="0"/>
              <a:buChar char="•"/>
            </a:pPr>
            <a:r>
              <a:rPr lang="en-US" dirty="0"/>
              <a:t>Shift to Cloud Analytics</a:t>
            </a:r>
            <a:br>
              <a:rPr lang="en-US" dirty="0"/>
            </a:br>
            <a:r>
              <a:rPr lang="en-US" sz="1200" dirty="0"/>
              <a:t>Organizations are rapidly moving from on-premises BI to cloud-native platforms.  Both Power BI and Tableau benefit, but Power BI gains more from Azure-centric cloud strategies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dirty="0"/>
              <a:t>Rise of Self-Service BI</a:t>
            </a:r>
            <a:br>
              <a:rPr lang="en-US" sz="1200" dirty="0"/>
            </a:br>
            <a:r>
              <a:rPr lang="en-US" sz="1200" dirty="0"/>
              <a:t>Business users increasingly demand tools that allow them to build dashboards without IT dependency.  Power BI’s lower learning curve gives it an edge here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dirty="0"/>
              <a:t>AI-Driven Insights</a:t>
            </a:r>
            <a:br>
              <a:rPr lang="en-US" sz="1200" dirty="0"/>
            </a:br>
            <a:r>
              <a:rPr lang="en-US" sz="1200" dirty="0"/>
              <a:t>Demand for automated insights, natural lingual queries, and predictive analytics is accelerating.  Power BI’s AI features and Copilot integration position it strongly in this trend.</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dirty="0"/>
              <a:t>Unified Data Platforms</a:t>
            </a:r>
            <a:br>
              <a:rPr lang="en-US" sz="1200" dirty="0"/>
            </a:br>
            <a:r>
              <a:rPr lang="en-US" sz="1200" dirty="0"/>
              <a:t>The market is shifting towards end-to-end analytics ecosystems.</a:t>
            </a:r>
            <a:br>
              <a:rPr lang="en-US" sz="1200" dirty="0"/>
            </a:br>
            <a:r>
              <a:rPr lang="en-US" sz="1200" dirty="0"/>
              <a:t>Microsoft Fabric strengthens Power BI’s position as part of a unified data stack.</a:t>
            </a:r>
            <a:br>
              <a:rPr lang="en-US" sz="1200" dirty="0"/>
            </a:br>
            <a:endParaRPr lang="en-US" sz="1200" dirty="0"/>
          </a:p>
          <a:p>
            <a:pPr marL="285750" indent="-285750">
              <a:buFont typeface="Arial" panose="020B0604020202020204" pitchFamily="34" charset="0"/>
              <a:buChar char="•"/>
            </a:pPr>
            <a:r>
              <a:rPr lang="en-US" dirty="0"/>
              <a:t>Cost Optimization</a:t>
            </a:r>
            <a:br>
              <a:rPr lang="en-US" sz="1200" dirty="0"/>
            </a:br>
            <a:r>
              <a:rPr lang="en-US" sz="1200" dirty="0"/>
              <a:t>Enterprises are under pressure to reduce BI spend.</a:t>
            </a:r>
            <a:br>
              <a:rPr lang="en-US" sz="1200" dirty="0"/>
            </a:br>
            <a:r>
              <a:rPr lang="en-US" sz="1200" dirty="0"/>
              <a:t>Power BI’s pricing model is a major competitive advantage over Tableau.</a:t>
            </a:r>
            <a:br>
              <a:rPr lang="en-US" sz="1200" dirty="0"/>
            </a:br>
            <a:br>
              <a:rPr lang="en-US" sz="1200" dirty="0"/>
            </a:br>
            <a:endParaRPr lang="en-GB" dirty="0"/>
          </a:p>
        </p:txBody>
      </p:sp>
    </p:spTree>
    <p:extLst>
      <p:ext uri="{BB962C8B-B14F-4D97-AF65-F5344CB8AC3E}">
        <p14:creationId xmlns:p14="http://schemas.microsoft.com/office/powerpoint/2010/main" val="8447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ACD8-4591-4DF0-B646-FA735EE939DD}"/>
              </a:ext>
            </a:extLst>
          </p:cNvPr>
          <p:cNvSpPr>
            <a:spLocks noGrp="1"/>
          </p:cNvSpPr>
          <p:nvPr>
            <p:ph type="title"/>
          </p:nvPr>
        </p:nvSpPr>
        <p:spPr/>
        <p:txBody>
          <a:bodyPr/>
          <a:lstStyle/>
          <a:p>
            <a:r>
              <a:rPr lang="en-US" dirty="0"/>
              <a:t>Deployment Costs by Organization Size</a:t>
            </a:r>
            <a:endParaRPr lang="en-GB" dirty="0"/>
          </a:p>
        </p:txBody>
      </p:sp>
      <p:graphicFrame>
        <p:nvGraphicFramePr>
          <p:cNvPr id="4" name="Table 4">
            <a:extLst>
              <a:ext uri="{FF2B5EF4-FFF2-40B4-BE49-F238E27FC236}">
                <a16:creationId xmlns:a16="http://schemas.microsoft.com/office/drawing/2014/main" id="{75900524-257E-437A-8279-262C8FF9C5E6}"/>
              </a:ext>
            </a:extLst>
          </p:cNvPr>
          <p:cNvGraphicFramePr>
            <a:graphicFrameLocks noGrp="1"/>
          </p:cNvGraphicFramePr>
          <p:nvPr>
            <p:ph idx="1"/>
            <p:extLst>
              <p:ext uri="{D42A27DB-BD31-4B8C-83A1-F6EECF244321}">
                <p14:modId xmlns:p14="http://schemas.microsoft.com/office/powerpoint/2010/main" val="3389465275"/>
              </p:ext>
            </p:extLst>
          </p:nvPr>
        </p:nvGraphicFramePr>
        <p:xfrm>
          <a:off x="838200" y="1825625"/>
          <a:ext cx="10515600" cy="28346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4025117447"/>
                    </a:ext>
                  </a:extLst>
                </a:gridCol>
                <a:gridCol w="1752600">
                  <a:extLst>
                    <a:ext uri="{9D8B030D-6E8A-4147-A177-3AD203B41FA5}">
                      <a16:colId xmlns:a16="http://schemas.microsoft.com/office/drawing/2014/main" val="3466671542"/>
                    </a:ext>
                  </a:extLst>
                </a:gridCol>
                <a:gridCol w="1752600">
                  <a:extLst>
                    <a:ext uri="{9D8B030D-6E8A-4147-A177-3AD203B41FA5}">
                      <a16:colId xmlns:a16="http://schemas.microsoft.com/office/drawing/2014/main" val="2118410339"/>
                    </a:ext>
                  </a:extLst>
                </a:gridCol>
                <a:gridCol w="1752600">
                  <a:extLst>
                    <a:ext uri="{9D8B030D-6E8A-4147-A177-3AD203B41FA5}">
                      <a16:colId xmlns:a16="http://schemas.microsoft.com/office/drawing/2014/main" val="3481015754"/>
                    </a:ext>
                  </a:extLst>
                </a:gridCol>
                <a:gridCol w="1752600">
                  <a:extLst>
                    <a:ext uri="{9D8B030D-6E8A-4147-A177-3AD203B41FA5}">
                      <a16:colId xmlns:a16="http://schemas.microsoft.com/office/drawing/2014/main" val="222622573"/>
                    </a:ext>
                  </a:extLst>
                </a:gridCol>
                <a:gridCol w="1752600">
                  <a:extLst>
                    <a:ext uri="{9D8B030D-6E8A-4147-A177-3AD203B41FA5}">
                      <a16:colId xmlns:a16="http://schemas.microsoft.com/office/drawing/2014/main" val="66697812"/>
                    </a:ext>
                  </a:extLst>
                </a:gridCol>
              </a:tblGrid>
              <a:tr h="370840">
                <a:tc>
                  <a:txBody>
                    <a:bodyPr/>
                    <a:lstStyle/>
                    <a:p>
                      <a:r>
                        <a:rPr lang="en-US" dirty="0"/>
                        <a:t>Size</a:t>
                      </a:r>
                      <a:endParaRPr lang="en-GB" dirty="0"/>
                    </a:p>
                  </a:txBody>
                  <a:tcPr/>
                </a:tc>
                <a:tc>
                  <a:txBody>
                    <a:bodyPr/>
                    <a:lstStyle/>
                    <a:p>
                      <a:r>
                        <a:rPr lang="en-US" dirty="0"/>
                        <a:t>Users</a:t>
                      </a:r>
                      <a:endParaRPr lang="en-GB" dirty="0"/>
                    </a:p>
                  </a:txBody>
                  <a:tcPr/>
                </a:tc>
                <a:tc>
                  <a:txBody>
                    <a:bodyPr/>
                    <a:lstStyle/>
                    <a:p>
                      <a:r>
                        <a:rPr lang="en-US" dirty="0"/>
                        <a:t>Licensing</a:t>
                      </a:r>
                      <a:endParaRPr lang="en-GB" dirty="0"/>
                    </a:p>
                  </a:txBody>
                  <a:tcPr/>
                </a:tc>
                <a:tc>
                  <a:txBody>
                    <a:bodyPr/>
                    <a:lstStyle/>
                    <a:p>
                      <a:r>
                        <a:rPr lang="en-US" dirty="0"/>
                        <a:t>Initial setup (data modelling, dashboards)</a:t>
                      </a:r>
                      <a:endParaRPr lang="en-GB" dirty="0"/>
                    </a:p>
                  </a:txBody>
                  <a:tcPr/>
                </a:tc>
                <a:tc>
                  <a:txBody>
                    <a:bodyPr/>
                    <a:lstStyle/>
                    <a:p>
                      <a:r>
                        <a:rPr lang="en-US" dirty="0"/>
                        <a:t>Training</a:t>
                      </a:r>
                      <a:endParaRPr lang="en-GB" dirty="0"/>
                    </a:p>
                  </a:txBody>
                  <a:tcPr/>
                </a:tc>
                <a:tc>
                  <a:txBody>
                    <a:bodyPr/>
                    <a:lstStyle/>
                    <a:p>
                      <a:r>
                        <a:rPr lang="en-US" dirty="0"/>
                        <a:t>Ongoing maintenance</a:t>
                      </a:r>
                      <a:endParaRPr lang="en-GB" dirty="0"/>
                    </a:p>
                  </a:txBody>
                  <a:tcPr/>
                </a:tc>
                <a:extLst>
                  <a:ext uri="{0D108BD9-81ED-4DB2-BD59-A6C34878D82A}">
                    <a16:rowId xmlns:a16="http://schemas.microsoft.com/office/drawing/2014/main" val="601690880"/>
                  </a:ext>
                </a:extLst>
              </a:tr>
              <a:tr h="370840">
                <a:tc>
                  <a:txBody>
                    <a:bodyPr/>
                    <a:lstStyle/>
                    <a:p>
                      <a:r>
                        <a:rPr lang="en-US" dirty="0"/>
                        <a:t>Small</a:t>
                      </a:r>
                      <a:endParaRPr lang="en-GB" dirty="0"/>
                    </a:p>
                  </a:txBody>
                  <a:tcPr/>
                </a:tc>
                <a:tc>
                  <a:txBody>
                    <a:bodyPr/>
                    <a:lstStyle/>
                    <a:p>
                      <a:r>
                        <a:rPr lang="en-US" dirty="0"/>
                        <a:t>1-50</a:t>
                      </a:r>
                      <a:endParaRPr lang="en-GB" dirty="0"/>
                    </a:p>
                  </a:txBody>
                  <a:tcPr/>
                </a:tc>
                <a:tc>
                  <a:txBody>
                    <a:bodyPr/>
                    <a:lstStyle/>
                    <a:p>
                      <a:r>
                        <a:rPr lang="en-US" dirty="0"/>
                        <a:t>£650 - £5,000 /year</a:t>
                      </a:r>
                      <a:endParaRPr lang="en-GB" dirty="0"/>
                    </a:p>
                  </a:txBody>
                  <a:tcPr/>
                </a:tc>
                <a:tc>
                  <a:txBody>
                    <a:bodyPr/>
                    <a:lstStyle/>
                    <a:p>
                      <a:r>
                        <a:rPr lang="en-US" dirty="0"/>
                        <a:t>£5,000 - £25,000</a:t>
                      </a:r>
                      <a:endParaRPr lang="en-GB" dirty="0"/>
                    </a:p>
                  </a:txBody>
                  <a:tcPr/>
                </a:tc>
                <a:tc>
                  <a:txBody>
                    <a:bodyPr/>
                    <a:lstStyle/>
                    <a:p>
                      <a:r>
                        <a:rPr lang="en-US" dirty="0"/>
                        <a:t>£1,000 - £5,000</a:t>
                      </a:r>
                      <a:endParaRPr lang="en-GB" dirty="0"/>
                    </a:p>
                  </a:txBody>
                  <a:tcPr/>
                </a:tc>
                <a:tc>
                  <a:txBody>
                    <a:bodyPr/>
                    <a:lstStyle/>
                    <a:p>
                      <a:r>
                        <a:rPr lang="en-US" dirty="0"/>
                        <a:t>£2,000 - £10,000/year</a:t>
                      </a:r>
                      <a:endParaRPr lang="en-GB" dirty="0"/>
                    </a:p>
                  </a:txBody>
                  <a:tcPr/>
                </a:tc>
                <a:extLst>
                  <a:ext uri="{0D108BD9-81ED-4DB2-BD59-A6C34878D82A}">
                    <a16:rowId xmlns:a16="http://schemas.microsoft.com/office/drawing/2014/main" val="2644250455"/>
                  </a:ext>
                </a:extLst>
              </a:tr>
              <a:tr h="401161">
                <a:tc>
                  <a:txBody>
                    <a:bodyPr/>
                    <a:lstStyle/>
                    <a:p>
                      <a:r>
                        <a:rPr lang="en-US" dirty="0"/>
                        <a:t>Medium</a:t>
                      </a:r>
                      <a:endParaRPr lang="en-GB" dirty="0"/>
                    </a:p>
                  </a:txBody>
                  <a:tcPr/>
                </a:tc>
                <a:tc>
                  <a:txBody>
                    <a:bodyPr/>
                    <a:lstStyle/>
                    <a:p>
                      <a:r>
                        <a:rPr lang="en-US" dirty="0"/>
                        <a:t>50-500</a:t>
                      </a:r>
                      <a:endParaRPr lang="en-GB" dirty="0"/>
                    </a:p>
                  </a:txBody>
                  <a:tcPr/>
                </a:tc>
                <a:tc>
                  <a:txBody>
                    <a:bodyPr/>
                    <a:lstStyle/>
                    <a:p>
                      <a:r>
                        <a:rPr lang="en-US" dirty="0"/>
                        <a:t>£10,000 - £150,000/year</a:t>
                      </a:r>
                      <a:endParaRPr lang="en-GB" dirty="0"/>
                    </a:p>
                  </a:txBody>
                  <a:tcPr/>
                </a:tc>
                <a:tc>
                  <a:txBody>
                    <a:bodyPr/>
                    <a:lstStyle/>
                    <a:p>
                      <a:r>
                        <a:rPr lang="en-US" dirty="0"/>
                        <a:t>£30,000 - £250,000</a:t>
                      </a:r>
                      <a:endParaRPr lang="en-GB" dirty="0"/>
                    </a:p>
                  </a:txBody>
                  <a:tcPr/>
                </a:tc>
                <a:tc>
                  <a:txBody>
                    <a:bodyPr/>
                    <a:lstStyle/>
                    <a:p>
                      <a:r>
                        <a:rPr lang="en-US" dirty="0"/>
                        <a:t>£10,000 to £50,000</a:t>
                      </a:r>
                      <a:endParaRPr lang="en-GB" dirty="0"/>
                    </a:p>
                  </a:txBody>
                  <a:tcPr/>
                </a:tc>
                <a:tc>
                  <a:txBody>
                    <a:bodyPr/>
                    <a:lstStyle/>
                    <a:p>
                      <a:r>
                        <a:rPr lang="en-US" dirty="0"/>
                        <a:t>£20,000 to £100,000/year</a:t>
                      </a:r>
                      <a:endParaRPr lang="en-GB" dirty="0"/>
                    </a:p>
                  </a:txBody>
                  <a:tcPr/>
                </a:tc>
                <a:extLst>
                  <a:ext uri="{0D108BD9-81ED-4DB2-BD59-A6C34878D82A}">
                    <a16:rowId xmlns:a16="http://schemas.microsoft.com/office/drawing/2014/main" val="1906422384"/>
                  </a:ext>
                </a:extLst>
              </a:tr>
              <a:tr h="370840">
                <a:tc>
                  <a:txBody>
                    <a:bodyPr/>
                    <a:lstStyle/>
                    <a:p>
                      <a:r>
                        <a:rPr lang="en-US" dirty="0"/>
                        <a:t>Large</a:t>
                      </a:r>
                      <a:endParaRPr lang="en-GB" dirty="0"/>
                    </a:p>
                  </a:txBody>
                  <a:tcPr/>
                </a:tc>
                <a:tc>
                  <a:txBody>
                    <a:bodyPr/>
                    <a:lstStyle/>
                    <a:p>
                      <a:r>
                        <a:rPr lang="en-US" dirty="0"/>
                        <a:t>500+</a:t>
                      </a:r>
                      <a:endParaRPr lang="en-GB" dirty="0"/>
                    </a:p>
                  </a:txBody>
                  <a:tcPr/>
                </a:tc>
                <a:tc>
                  <a:txBody>
                    <a:bodyPr/>
                    <a:lstStyle/>
                    <a:p>
                      <a:r>
                        <a:rPr lang="en-US" dirty="0"/>
                        <a:t>£200,000 - £2M+/year</a:t>
                      </a:r>
                      <a:endParaRPr lang="en-GB" dirty="0"/>
                    </a:p>
                  </a:txBody>
                  <a:tcPr/>
                </a:tc>
                <a:tc>
                  <a:txBody>
                    <a:bodyPr/>
                    <a:lstStyle/>
                    <a:p>
                      <a:r>
                        <a:rPr lang="en-US" dirty="0"/>
                        <a:t>£250,000 - £300,000</a:t>
                      </a:r>
                      <a:endParaRPr lang="en-GB" dirty="0"/>
                    </a:p>
                  </a:txBody>
                  <a:tcPr/>
                </a:tc>
                <a:tc>
                  <a:txBody>
                    <a:bodyPr/>
                    <a:lstStyle/>
                    <a:p>
                      <a:r>
                        <a:rPr lang="en-US" dirty="0"/>
                        <a:t>£50,000 - £300,000</a:t>
                      </a:r>
                      <a:endParaRPr lang="en-GB" dirty="0"/>
                    </a:p>
                  </a:txBody>
                  <a:tcPr/>
                </a:tc>
                <a:tc>
                  <a:txBody>
                    <a:bodyPr/>
                    <a:lstStyle/>
                    <a:p>
                      <a:r>
                        <a:rPr lang="en-US" dirty="0"/>
                        <a:t>£100,000 - £1M+/year</a:t>
                      </a:r>
                      <a:endParaRPr lang="en-GB" dirty="0"/>
                    </a:p>
                  </a:txBody>
                  <a:tcPr/>
                </a:tc>
                <a:extLst>
                  <a:ext uri="{0D108BD9-81ED-4DB2-BD59-A6C34878D82A}">
                    <a16:rowId xmlns:a16="http://schemas.microsoft.com/office/drawing/2014/main" val="649418973"/>
                  </a:ext>
                </a:extLst>
              </a:tr>
            </a:tbl>
          </a:graphicData>
        </a:graphic>
      </p:graphicFrame>
    </p:spTree>
    <p:extLst>
      <p:ext uri="{BB962C8B-B14F-4D97-AF65-F5344CB8AC3E}">
        <p14:creationId xmlns:p14="http://schemas.microsoft.com/office/powerpoint/2010/main" val="3574442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2322-52CA-4217-8A47-952DE760B3E3}"/>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41599172-BEEA-4E26-AF8E-49C61732A8A7}"/>
              </a:ext>
            </a:extLst>
          </p:cNvPr>
          <p:cNvSpPr>
            <a:spLocks noGrp="1"/>
          </p:cNvSpPr>
          <p:nvPr>
            <p:ph idx="1"/>
          </p:nvPr>
        </p:nvSpPr>
        <p:spPr/>
        <p:txBody>
          <a:bodyPr/>
          <a:lstStyle/>
          <a:p>
            <a:r>
              <a:rPr lang="en-US" sz="2400" dirty="0"/>
              <a:t>Power BI continues to be the Market Leader in today’s analytics landscape.  It delivers the most comprehensive value across the full analytics </a:t>
            </a:r>
            <a:r>
              <a:rPr lang="en-US" sz="2400" dirty="0" err="1"/>
              <a:t>lifecyle</a:t>
            </a:r>
            <a:r>
              <a:rPr lang="en-US" sz="2400" dirty="0"/>
              <a:t>.</a:t>
            </a:r>
          </a:p>
          <a:p>
            <a:r>
              <a:rPr lang="en-US" sz="2400" dirty="0"/>
              <a:t>Seamless connectivity with Microsoft 365, Azure, Dynamics 365, Teams, and SharePoint.</a:t>
            </a:r>
          </a:p>
          <a:p>
            <a:r>
              <a:rPr lang="en-US" sz="2400" dirty="0"/>
              <a:t>Supported by a massive global community and monthly updates.</a:t>
            </a:r>
          </a:p>
          <a:p>
            <a:r>
              <a:rPr lang="en-US" sz="2400" dirty="0"/>
              <a:t>AI power insights, natural language Q&amp;A, and Copilot integration.</a:t>
            </a:r>
          </a:p>
          <a:p>
            <a:r>
              <a:rPr lang="en-US" sz="2400" dirty="0"/>
              <a:t>Scalable for small, medium and large enterprises.</a:t>
            </a:r>
          </a:p>
          <a:p>
            <a:r>
              <a:rPr lang="en-US" sz="2400" dirty="0"/>
              <a:t>Single end-to-end analytics platform.</a:t>
            </a:r>
          </a:p>
          <a:p>
            <a:endParaRPr lang="en-GB" dirty="0"/>
          </a:p>
        </p:txBody>
      </p:sp>
    </p:spTree>
    <p:extLst>
      <p:ext uri="{BB962C8B-B14F-4D97-AF65-F5344CB8AC3E}">
        <p14:creationId xmlns:p14="http://schemas.microsoft.com/office/powerpoint/2010/main" val="594384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1212</Words>
  <Application>Microsoft Office PowerPoint</Application>
  <PresentationFormat>Widescreen</PresentationFormat>
  <Paragraphs>138</Paragraphs>
  <Slides>7</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Segoe UI</vt:lpstr>
      <vt:lpstr>Office Theme</vt:lpstr>
      <vt:lpstr>PowerPoint Presentation</vt:lpstr>
      <vt:lpstr>Product Overview</vt:lpstr>
      <vt:lpstr>SWOT Analysis</vt:lpstr>
      <vt:lpstr>SWOT Analysis</vt:lpstr>
      <vt:lpstr>Market Analysis</vt:lpstr>
      <vt:lpstr>Deployment Costs by Organization Size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14</cp:revision>
  <dcterms:created xsi:type="dcterms:W3CDTF">2026-02-19T11:20:50Z</dcterms:created>
  <dcterms:modified xsi:type="dcterms:W3CDTF">2026-02-19T14:06:51Z</dcterms:modified>
</cp:coreProperties>
</file>